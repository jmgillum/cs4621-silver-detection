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4" r:id="rId4"/>
    <p:sldMasterId id="2147484317" r:id="rId5"/>
    <p:sldMasterId id="2147484326" r:id="rId6"/>
    <p:sldMasterId id="2147484315" r:id="rId7"/>
    <p:sldMasterId id="2147484316" r:id="rId8"/>
  </p:sldMasterIdLst>
  <p:notesMasterIdLst>
    <p:notesMasterId r:id="rId30"/>
  </p:notesMasterIdLst>
  <p:handoutMasterIdLst>
    <p:handoutMasterId r:id="rId31"/>
  </p:handoutMasterIdLst>
  <p:sldIdLst>
    <p:sldId id="261" r:id="rId9"/>
    <p:sldId id="339" r:id="rId10"/>
    <p:sldId id="357" r:id="rId11"/>
    <p:sldId id="308" r:id="rId12"/>
    <p:sldId id="355" r:id="rId13"/>
    <p:sldId id="373" r:id="rId14"/>
    <p:sldId id="374" r:id="rId15"/>
    <p:sldId id="375" r:id="rId16"/>
    <p:sldId id="367" r:id="rId17"/>
    <p:sldId id="307" r:id="rId18"/>
    <p:sldId id="370" r:id="rId19"/>
    <p:sldId id="369" r:id="rId20"/>
    <p:sldId id="366" r:id="rId21"/>
    <p:sldId id="356" r:id="rId22"/>
    <p:sldId id="371" r:id="rId23"/>
    <p:sldId id="365" r:id="rId24"/>
    <p:sldId id="289" r:id="rId25"/>
    <p:sldId id="372" r:id="rId26"/>
    <p:sldId id="362" r:id="rId27"/>
    <p:sldId id="315" r:id="rId28"/>
    <p:sldId id="350" r:id="rId29"/>
  </p:sldIdLst>
  <p:sldSz cx="24385588" cy="13717588"/>
  <p:notesSz cx="6858000" cy="9144000"/>
  <p:defaultTextStyle>
    <a:defPPr>
      <a:defRPr lang="ru-RU"/>
    </a:defPPr>
    <a:lvl1pPr marL="0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1pPr>
    <a:lvl2pPr marL="1219047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2pPr>
    <a:lvl3pPr marL="2438092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3pPr>
    <a:lvl4pPr marL="3657139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4pPr>
    <a:lvl5pPr marL="4876186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5pPr>
    <a:lvl6pPr marL="6095230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6pPr>
    <a:lvl7pPr marL="7314277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7pPr>
    <a:lvl8pPr marL="8533324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8pPr>
    <a:lvl9pPr marL="9752371" algn="l" defTabSz="2438092" rtl="0" eaLnBrk="1" latinLnBrk="0" hangingPunct="1">
      <a:defRPr sz="4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C934344E-928D-9747-A758-2D473ED4398A}">
          <p14:sldIdLst>
            <p14:sldId id="261"/>
            <p14:sldId id="339"/>
          </p14:sldIdLst>
        </p14:section>
        <p14:section name="Project Overview" id="{1351EA02-D3D4-41A0-A6E0-635E8E98930B}">
          <p14:sldIdLst>
            <p14:sldId id="357"/>
            <p14:sldId id="308"/>
            <p14:sldId id="355"/>
            <p14:sldId id="373"/>
            <p14:sldId id="374"/>
            <p14:sldId id="375"/>
            <p14:sldId id="367"/>
            <p14:sldId id="307"/>
            <p14:sldId id="370"/>
            <p14:sldId id="369"/>
            <p14:sldId id="366"/>
            <p14:sldId id="356"/>
            <p14:sldId id="371"/>
            <p14:sldId id="365"/>
            <p14:sldId id="289"/>
            <p14:sldId id="372"/>
            <p14:sldId id="362"/>
            <p14:sldId id="315"/>
            <p14:sldId id="350"/>
          </p14:sldIdLst>
        </p14:section>
        <p14:section name="EXTRAS" id="{931BC854-6397-194B-8BA4-F30C6897EFB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529"/>
    <a:srgbClr val="FBC71A"/>
    <a:srgbClr val="EACB24"/>
    <a:srgbClr val="FFFFFF"/>
    <a:srgbClr val="E1E1E1"/>
    <a:srgbClr val="649FFF"/>
    <a:srgbClr val="F2F2F2"/>
    <a:srgbClr val="FAFAFA"/>
    <a:srgbClr val="D1D9E1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A3513-7C0C-3844-486C-7E57A7E60331}" v="9" dt="2026-05-07T18:53:58.094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6A7951-6E3E-4752-83E9-281AE8A99AFF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EFA0667-6726-4236-8F5C-D87BCE18AF57}">
      <dgm:prSet/>
      <dgm:spPr>
        <a:solidFill>
          <a:srgbClr val="242529"/>
        </a:solidFill>
      </dgm:spPr>
      <dgm:t>
        <a:bodyPr/>
        <a:lstStyle/>
        <a:p>
          <a:r>
            <a:rPr lang="en-US"/>
            <a:t>Vision Transformer Base with 16×16 patches (</a:t>
          </a:r>
          <a:r>
            <a:rPr lang="en-US" err="1"/>
            <a:t>ViT</a:t>
          </a:r>
          <a:r>
            <a:rPr lang="en-US"/>
            <a:t>-B/16)</a:t>
          </a:r>
        </a:p>
      </dgm:t>
    </dgm:pt>
    <dgm:pt modelId="{BD994149-6C71-4AEB-9E9E-B4665829654F}" type="parTrans" cxnId="{9674D733-DB00-4463-AC82-142117B7F68C}">
      <dgm:prSet/>
      <dgm:spPr/>
      <dgm:t>
        <a:bodyPr/>
        <a:lstStyle/>
        <a:p>
          <a:endParaRPr lang="en-US"/>
        </a:p>
      </dgm:t>
    </dgm:pt>
    <dgm:pt modelId="{12A83FEF-06D1-4F4C-BF11-4FBA7F6FAA97}" type="sibTrans" cxnId="{9674D733-DB00-4463-AC82-142117B7F68C}">
      <dgm:prSet/>
      <dgm:spPr/>
      <dgm:t>
        <a:bodyPr/>
        <a:lstStyle/>
        <a:p>
          <a:endParaRPr lang="en-US"/>
        </a:p>
      </dgm:t>
    </dgm:pt>
    <dgm:pt modelId="{89E02CB0-949E-48A7-8816-45266268D7D8}">
      <dgm:prSet/>
      <dgm:spPr>
        <a:solidFill>
          <a:srgbClr val="FBC71A"/>
        </a:solidFill>
      </dgm:spPr>
      <dgm:t>
        <a:bodyPr/>
        <a:lstStyle/>
        <a:p>
          <a:r>
            <a:rPr lang="en-US"/>
            <a:t>EfficientNet-B0 (CNN architecture)</a:t>
          </a:r>
        </a:p>
      </dgm:t>
    </dgm:pt>
    <dgm:pt modelId="{BF4CF7CC-7910-4402-BCF8-A3B32875367D}" type="sibTrans" cxnId="{FA26A023-79A6-4BEB-9F20-37262E0029C8}">
      <dgm:prSet/>
      <dgm:spPr/>
      <dgm:t>
        <a:bodyPr/>
        <a:lstStyle/>
        <a:p>
          <a:endParaRPr lang="en-US"/>
        </a:p>
      </dgm:t>
    </dgm:pt>
    <dgm:pt modelId="{31C29677-E5F9-48FF-B08B-6873E5B11156}" type="parTrans" cxnId="{FA26A023-79A6-4BEB-9F20-37262E0029C8}">
      <dgm:prSet/>
      <dgm:spPr/>
      <dgm:t>
        <a:bodyPr/>
        <a:lstStyle/>
        <a:p>
          <a:endParaRPr lang="en-US"/>
        </a:p>
      </dgm:t>
    </dgm:pt>
    <dgm:pt modelId="{43705BA4-9668-4170-8CEC-E2AB1180D7C3}">
      <dgm:prSet/>
      <dgm:spPr>
        <a:solidFill>
          <a:srgbClr val="FBC71A"/>
        </a:solidFill>
      </dgm:spPr>
      <dgm:t>
        <a:bodyPr/>
        <a:lstStyle/>
        <a:p>
          <a:r>
            <a:rPr lang="en-US"/>
            <a:t>DenseNet-121 (CNN architecture)</a:t>
          </a:r>
        </a:p>
      </dgm:t>
    </dgm:pt>
    <dgm:pt modelId="{7D325413-3B6A-406C-9EBB-BAEE0258A304}" type="parTrans" cxnId="{D1DAB49F-6AC4-4BB1-B705-A2C41DDE2229}">
      <dgm:prSet/>
      <dgm:spPr/>
      <dgm:t>
        <a:bodyPr/>
        <a:lstStyle/>
        <a:p>
          <a:endParaRPr lang="en-US"/>
        </a:p>
      </dgm:t>
    </dgm:pt>
    <dgm:pt modelId="{8EAE5282-1299-4DAF-A794-6AAF11B38353}" type="sibTrans" cxnId="{D1DAB49F-6AC4-4BB1-B705-A2C41DDE2229}">
      <dgm:prSet/>
      <dgm:spPr/>
      <dgm:t>
        <a:bodyPr/>
        <a:lstStyle/>
        <a:p>
          <a:endParaRPr lang="en-US"/>
        </a:p>
      </dgm:t>
    </dgm:pt>
    <dgm:pt modelId="{E7B48C38-A52E-484A-A8F8-A395F83B9454}">
      <dgm:prSet/>
      <dgm:spPr/>
      <dgm:t>
        <a:bodyPr/>
        <a:lstStyle/>
        <a:p>
          <a:r>
            <a:rPr lang="en-US"/>
            <a:t>Data-efficient Image Transformer – Small (</a:t>
          </a:r>
          <a:r>
            <a:rPr lang="en-US" err="1"/>
            <a:t>DeiT</a:t>
          </a:r>
          <a:r>
            <a:rPr lang="en-US"/>
            <a:t>-S)</a:t>
          </a:r>
        </a:p>
      </dgm:t>
    </dgm:pt>
    <dgm:pt modelId="{A5ADFC2E-F72D-48FD-8BE5-7F53B1D3E39A}" type="sibTrans" cxnId="{487B8E61-79C5-4C59-AC82-7CD6A1E4F366}">
      <dgm:prSet/>
      <dgm:spPr/>
      <dgm:t>
        <a:bodyPr/>
        <a:lstStyle/>
        <a:p>
          <a:endParaRPr lang="en-US"/>
        </a:p>
      </dgm:t>
    </dgm:pt>
    <dgm:pt modelId="{99389B06-9B56-42E1-B3AB-EFFD0F126869}" type="parTrans" cxnId="{487B8E61-79C5-4C59-AC82-7CD6A1E4F366}">
      <dgm:prSet/>
      <dgm:spPr/>
      <dgm:t>
        <a:bodyPr/>
        <a:lstStyle/>
        <a:p>
          <a:endParaRPr lang="en-US"/>
        </a:p>
      </dgm:t>
    </dgm:pt>
    <dgm:pt modelId="{7619B629-252B-4E9B-B216-0B6E5AC528B1}">
      <dgm:prSet/>
      <dgm:spPr>
        <a:solidFill>
          <a:srgbClr val="FBC71A"/>
        </a:solidFill>
      </dgm:spPr>
      <dgm:t>
        <a:bodyPr/>
        <a:lstStyle/>
        <a:p>
          <a:r>
            <a:rPr lang="en-US"/>
            <a:t>ResNet-50 (CNN architecture)</a:t>
          </a:r>
        </a:p>
      </dgm:t>
    </dgm:pt>
    <dgm:pt modelId="{39773308-B6F8-40A0-B3FF-C18DFC739134}" type="sibTrans" cxnId="{F1B5F2B6-0770-4883-B1A4-5EC43EBD21EA}">
      <dgm:prSet/>
      <dgm:spPr/>
      <dgm:t>
        <a:bodyPr/>
        <a:lstStyle/>
        <a:p>
          <a:endParaRPr lang="en-US"/>
        </a:p>
      </dgm:t>
    </dgm:pt>
    <dgm:pt modelId="{ADD78245-08CD-428D-BA79-5D8A9685ADE2}" type="parTrans" cxnId="{F1B5F2B6-0770-4883-B1A4-5EC43EBD21EA}">
      <dgm:prSet/>
      <dgm:spPr/>
      <dgm:t>
        <a:bodyPr/>
        <a:lstStyle/>
        <a:p>
          <a:endParaRPr lang="en-US"/>
        </a:p>
      </dgm:t>
    </dgm:pt>
    <dgm:pt modelId="{690DEFFB-4DA6-497A-8050-2AC89A1DD418}" type="pres">
      <dgm:prSet presAssocID="{6A6A7951-6E3E-4752-83E9-281AE8A99AFF}" presName="linear" presStyleCnt="0">
        <dgm:presLayoutVars>
          <dgm:animLvl val="lvl"/>
          <dgm:resizeHandles val="exact"/>
        </dgm:presLayoutVars>
      </dgm:prSet>
      <dgm:spPr/>
    </dgm:pt>
    <dgm:pt modelId="{5D3CDB7B-4359-4082-B554-E4DEF39E308E}" type="pres">
      <dgm:prSet presAssocID="{7619B629-252B-4E9B-B216-0B6E5AC528B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6424C93-C75A-4E2C-B017-EC87FF1D9252}" type="pres">
      <dgm:prSet presAssocID="{39773308-B6F8-40A0-B3FF-C18DFC739134}" presName="spacer" presStyleCnt="0"/>
      <dgm:spPr/>
    </dgm:pt>
    <dgm:pt modelId="{44F704D8-7CB2-4D55-85D5-1402D2509CA6}" type="pres">
      <dgm:prSet presAssocID="{43705BA4-9668-4170-8CEC-E2AB1180D7C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2D80887-92B5-4135-869E-1D8D826078D8}" type="pres">
      <dgm:prSet presAssocID="{8EAE5282-1299-4DAF-A794-6AAF11B38353}" presName="spacer" presStyleCnt="0"/>
      <dgm:spPr/>
    </dgm:pt>
    <dgm:pt modelId="{B1B7BA95-31AC-4872-8193-22BDBBD4145B}" type="pres">
      <dgm:prSet presAssocID="{89E02CB0-949E-48A7-8816-45266268D7D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F8460FFC-CFE5-4E0D-8E66-2F4C68F56924}" type="pres">
      <dgm:prSet presAssocID="{BF4CF7CC-7910-4402-BCF8-A3B32875367D}" presName="spacer" presStyleCnt="0"/>
      <dgm:spPr/>
    </dgm:pt>
    <dgm:pt modelId="{34D3170F-9CE0-4947-88DC-3EF262BB6017}" type="pres">
      <dgm:prSet presAssocID="{1EFA0667-6726-4236-8F5C-D87BCE18AF5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64D2525-CC92-42E5-A523-7548E56EFA34}" type="pres">
      <dgm:prSet presAssocID="{12A83FEF-06D1-4F4C-BF11-4FBA7F6FAA97}" presName="spacer" presStyleCnt="0"/>
      <dgm:spPr/>
    </dgm:pt>
    <dgm:pt modelId="{DF140AB6-D841-48F4-8181-BD8923BA83B3}" type="pres">
      <dgm:prSet presAssocID="{E7B48C38-A52E-484A-A8F8-A395F83B945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D7F8E05-BD47-4EB2-A547-157A892697FD}" type="presOf" srcId="{89E02CB0-949E-48A7-8816-45266268D7D8}" destId="{B1B7BA95-31AC-4872-8193-22BDBBD4145B}" srcOrd="0" destOrd="0" presId="urn:microsoft.com/office/officeart/2005/8/layout/vList2"/>
    <dgm:cxn modelId="{FA26A023-79A6-4BEB-9F20-37262E0029C8}" srcId="{6A6A7951-6E3E-4752-83E9-281AE8A99AFF}" destId="{89E02CB0-949E-48A7-8816-45266268D7D8}" srcOrd="2" destOrd="0" parTransId="{31C29677-E5F9-48FF-B08B-6873E5B11156}" sibTransId="{BF4CF7CC-7910-4402-BCF8-A3B32875367D}"/>
    <dgm:cxn modelId="{9674D733-DB00-4463-AC82-142117B7F68C}" srcId="{6A6A7951-6E3E-4752-83E9-281AE8A99AFF}" destId="{1EFA0667-6726-4236-8F5C-D87BCE18AF57}" srcOrd="3" destOrd="0" parTransId="{BD994149-6C71-4AEB-9E9E-B4665829654F}" sibTransId="{12A83FEF-06D1-4F4C-BF11-4FBA7F6FAA97}"/>
    <dgm:cxn modelId="{C7284137-4AD6-47F1-AE6C-0008DB53A3CA}" type="presOf" srcId="{6A6A7951-6E3E-4752-83E9-281AE8A99AFF}" destId="{690DEFFB-4DA6-497A-8050-2AC89A1DD418}" srcOrd="0" destOrd="0" presId="urn:microsoft.com/office/officeart/2005/8/layout/vList2"/>
    <dgm:cxn modelId="{69446F60-E455-4EC6-B76C-81FEB4532675}" type="presOf" srcId="{43705BA4-9668-4170-8CEC-E2AB1180D7C3}" destId="{44F704D8-7CB2-4D55-85D5-1402D2509CA6}" srcOrd="0" destOrd="0" presId="urn:microsoft.com/office/officeart/2005/8/layout/vList2"/>
    <dgm:cxn modelId="{487B8E61-79C5-4C59-AC82-7CD6A1E4F366}" srcId="{6A6A7951-6E3E-4752-83E9-281AE8A99AFF}" destId="{E7B48C38-A52E-484A-A8F8-A395F83B9454}" srcOrd="4" destOrd="0" parTransId="{99389B06-9B56-42E1-B3AB-EFFD0F126869}" sibTransId="{A5ADFC2E-F72D-48FD-8BE5-7F53B1D3E39A}"/>
    <dgm:cxn modelId="{8C48159B-C2EC-474D-A354-C914AC8A8EFE}" type="presOf" srcId="{E7B48C38-A52E-484A-A8F8-A395F83B9454}" destId="{DF140AB6-D841-48F4-8181-BD8923BA83B3}" srcOrd="0" destOrd="0" presId="urn:microsoft.com/office/officeart/2005/8/layout/vList2"/>
    <dgm:cxn modelId="{D1DAB49F-6AC4-4BB1-B705-A2C41DDE2229}" srcId="{6A6A7951-6E3E-4752-83E9-281AE8A99AFF}" destId="{43705BA4-9668-4170-8CEC-E2AB1180D7C3}" srcOrd="1" destOrd="0" parTransId="{7D325413-3B6A-406C-9EBB-BAEE0258A304}" sibTransId="{8EAE5282-1299-4DAF-A794-6AAF11B38353}"/>
    <dgm:cxn modelId="{F1B5F2B6-0770-4883-B1A4-5EC43EBD21EA}" srcId="{6A6A7951-6E3E-4752-83E9-281AE8A99AFF}" destId="{7619B629-252B-4E9B-B216-0B6E5AC528B1}" srcOrd="0" destOrd="0" parTransId="{ADD78245-08CD-428D-BA79-5D8A9685ADE2}" sibTransId="{39773308-B6F8-40A0-B3FF-C18DFC739134}"/>
    <dgm:cxn modelId="{31E1A8DD-439E-4065-81BC-A96199D526F7}" type="presOf" srcId="{7619B629-252B-4E9B-B216-0B6E5AC528B1}" destId="{5D3CDB7B-4359-4082-B554-E4DEF39E308E}" srcOrd="0" destOrd="0" presId="urn:microsoft.com/office/officeart/2005/8/layout/vList2"/>
    <dgm:cxn modelId="{63A113E4-5CB6-4490-9311-60BBA43017ED}" type="presOf" srcId="{1EFA0667-6726-4236-8F5C-D87BCE18AF57}" destId="{34D3170F-9CE0-4947-88DC-3EF262BB6017}" srcOrd="0" destOrd="0" presId="urn:microsoft.com/office/officeart/2005/8/layout/vList2"/>
    <dgm:cxn modelId="{DB158C2F-28A0-4561-AF7B-8DFED71CDF11}" type="presParOf" srcId="{690DEFFB-4DA6-497A-8050-2AC89A1DD418}" destId="{5D3CDB7B-4359-4082-B554-E4DEF39E308E}" srcOrd="0" destOrd="0" presId="urn:microsoft.com/office/officeart/2005/8/layout/vList2"/>
    <dgm:cxn modelId="{734AC552-8560-4531-A748-D8C50CE105EB}" type="presParOf" srcId="{690DEFFB-4DA6-497A-8050-2AC89A1DD418}" destId="{86424C93-C75A-4E2C-B017-EC87FF1D9252}" srcOrd="1" destOrd="0" presId="urn:microsoft.com/office/officeart/2005/8/layout/vList2"/>
    <dgm:cxn modelId="{B0619A9A-B1BC-4254-A3F1-7B0510995926}" type="presParOf" srcId="{690DEFFB-4DA6-497A-8050-2AC89A1DD418}" destId="{44F704D8-7CB2-4D55-85D5-1402D2509CA6}" srcOrd="2" destOrd="0" presId="urn:microsoft.com/office/officeart/2005/8/layout/vList2"/>
    <dgm:cxn modelId="{1DA3280F-83FF-4CC4-8457-730352AF811A}" type="presParOf" srcId="{690DEFFB-4DA6-497A-8050-2AC89A1DD418}" destId="{22D80887-92B5-4135-869E-1D8D826078D8}" srcOrd="3" destOrd="0" presId="urn:microsoft.com/office/officeart/2005/8/layout/vList2"/>
    <dgm:cxn modelId="{2BF26B70-0513-4C2C-90B7-D22E7CE45FD3}" type="presParOf" srcId="{690DEFFB-4DA6-497A-8050-2AC89A1DD418}" destId="{B1B7BA95-31AC-4872-8193-22BDBBD4145B}" srcOrd="4" destOrd="0" presId="urn:microsoft.com/office/officeart/2005/8/layout/vList2"/>
    <dgm:cxn modelId="{D2012CC9-6FAA-43AE-BEC3-143AADA9A16E}" type="presParOf" srcId="{690DEFFB-4DA6-497A-8050-2AC89A1DD418}" destId="{F8460FFC-CFE5-4E0D-8E66-2F4C68F56924}" srcOrd="5" destOrd="0" presId="urn:microsoft.com/office/officeart/2005/8/layout/vList2"/>
    <dgm:cxn modelId="{BE812DC3-4CC7-42CC-88E1-CDEAC9F84ED4}" type="presParOf" srcId="{690DEFFB-4DA6-497A-8050-2AC89A1DD418}" destId="{34D3170F-9CE0-4947-88DC-3EF262BB6017}" srcOrd="6" destOrd="0" presId="urn:microsoft.com/office/officeart/2005/8/layout/vList2"/>
    <dgm:cxn modelId="{8F417E58-387E-4795-9085-8BF56949CFF8}" type="presParOf" srcId="{690DEFFB-4DA6-497A-8050-2AC89A1DD418}" destId="{964D2525-CC92-42E5-A523-7548E56EFA34}" srcOrd="7" destOrd="0" presId="urn:microsoft.com/office/officeart/2005/8/layout/vList2"/>
    <dgm:cxn modelId="{A8ED318F-9CDF-4048-8377-3C363A5FE454}" type="presParOf" srcId="{690DEFFB-4DA6-497A-8050-2AC89A1DD418}" destId="{DF140AB6-D841-48F4-8181-BD8923BA83B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3CDB7B-4359-4082-B554-E4DEF39E308E}">
      <dsp:nvSpPr>
        <dsp:cNvPr id="0" name=""/>
        <dsp:cNvSpPr/>
      </dsp:nvSpPr>
      <dsp:spPr>
        <a:xfrm>
          <a:off x="0" y="5530"/>
          <a:ext cx="11021180" cy="1787632"/>
        </a:xfrm>
        <a:prstGeom prst="roundRect">
          <a:avLst/>
        </a:prstGeom>
        <a:solidFill>
          <a:srgbClr val="FBC7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ResNet-50 (CNN architecture)</a:t>
          </a:r>
        </a:p>
      </dsp:txBody>
      <dsp:txXfrm>
        <a:off x="87265" y="92795"/>
        <a:ext cx="10846650" cy="1613102"/>
      </dsp:txXfrm>
    </dsp:sp>
    <dsp:sp modelId="{44F704D8-7CB2-4D55-85D5-1402D2509CA6}">
      <dsp:nvSpPr>
        <dsp:cNvPr id="0" name=""/>
        <dsp:cNvSpPr/>
      </dsp:nvSpPr>
      <dsp:spPr>
        <a:xfrm>
          <a:off x="0" y="1922762"/>
          <a:ext cx="11021180" cy="1787632"/>
        </a:xfrm>
        <a:prstGeom prst="roundRect">
          <a:avLst/>
        </a:prstGeom>
        <a:solidFill>
          <a:srgbClr val="FBC7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DenseNet-121 (CNN architecture)</a:t>
          </a:r>
        </a:p>
      </dsp:txBody>
      <dsp:txXfrm>
        <a:off x="87265" y="2010027"/>
        <a:ext cx="10846650" cy="1613102"/>
      </dsp:txXfrm>
    </dsp:sp>
    <dsp:sp modelId="{B1B7BA95-31AC-4872-8193-22BDBBD4145B}">
      <dsp:nvSpPr>
        <dsp:cNvPr id="0" name=""/>
        <dsp:cNvSpPr/>
      </dsp:nvSpPr>
      <dsp:spPr>
        <a:xfrm>
          <a:off x="0" y="3839994"/>
          <a:ext cx="11021180" cy="1787632"/>
        </a:xfrm>
        <a:prstGeom prst="roundRect">
          <a:avLst/>
        </a:prstGeom>
        <a:solidFill>
          <a:srgbClr val="FBC71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EfficientNet-B0 (CNN architecture)</a:t>
          </a:r>
        </a:p>
      </dsp:txBody>
      <dsp:txXfrm>
        <a:off x="87265" y="3927259"/>
        <a:ext cx="10846650" cy="1613102"/>
      </dsp:txXfrm>
    </dsp:sp>
    <dsp:sp modelId="{34D3170F-9CE0-4947-88DC-3EF262BB6017}">
      <dsp:nvSpPr>
        <dsp:cNvPr id="0" name=""/>
        <dsp:cNvSpPr/>
      </dsp:nvSpPr>
      <dsp:spPr>
        <a:xfrm>
          <a:off x="0" y="5757227"/>
          <a:ext cx="11021180" cy="1787632"/>
        </a:xfrm>
        <a:prstGeom prst="roundRect">
          <a:avLst/>
        </a:prstGeom>
        <a:solidFill>
          <a:srgbClr val="24252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Vision Transformer Base with 16×16 patches (</a:t>
          </a:r>
          <a:r>
            <a:rPr lang="en-US" sz="4500" kern="1200" err="1"/>
            <a:t>ViT</a:t>
          </a:r>
          <a:r>
            <a:rPr lang="en-US" sz="4500" kern="1200"/>
            <a:t>-B/16)</a:t>
          </a:r>
        </a:p>
      </dsp:txBody>
      <dsp:txXfrm>
        <a:off x="87265" y="5844492"/>
        <a:ext cx="10846650" cy="1613102"/>
      </dsp:txXfrm>
    </dsp:sp>
    <dsp:sp modelId="{DF140AB6-D841-48F4-8181-BD8923BA83B3}">
      <dsp:nvSpPr>
        <dsp:cNvPr id="0" name=""/>
        <dsp:cNvSpPr/>
      </dsp:nvSpPr>
      <dsp:spPr>
        <a:xfrm>
          <a:off x="0" y="7674459"/>
          <a:ext cx="11021180" cy="1787632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l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Data-efficient Image Transformer – Small (</a:t>
          </a:r>
          <a:r>
            <a:rPr lang="en-US" sz="4500" kern="1200" err="1"/>
            <a:t>DeiT</a:t>
          </a:r>
          <a:r>
            <a:rPr lang="en-US" sz="4500" kern="1200"/>
            <a:t>-S)</a:t>
          </a:r>
        </a:p>
      </dsp:txBody>
      <dsp:txXfrm>
        <a:off x="87265" y="7761724"/>
        <a:ext cx="10846650" cy="1613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41B0E-0A9B-FB43-B29A-2C5A495EA0A7}" type="datetimeFigureOut">
              <a:rPr lang="ru-RU" smtClean="0">
                <a:latin typeface="Archivo Regular" charset="0"/>
              </a:rPr>
              <a:t>07.05.2026</a:t>
            </a:fld>
            <a:endParaRPr lang="ru-RU">
              <a:latin typeface="Archivo Regular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>
              <a:latin typeface="Archivo Regular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11949-EE69-F440-BF44-484174DCC2AF}" type="slidenum">
              <a:rPr lang="ru-RU" smtClean="0">
                <a:latin typeface="Archivo Regular" charset="0"/>
              </a:rPr>
              <a:t>‹#›</a:t>
            </a:fld>
            <a:endParaRPr lang="ru-RU">
              <a:latin typeface="Archivo Regular" charset="0"/>
            </a:endParaRPr>
          </a:p>
        </p:txBody>
      </p:sp>
      <p:sp>
        <p:nvSpPr>
          <p:cNvPr id="6" name="Верхний колонтитул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>
              <a:latin typeface="Archivo Regula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2427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07.5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10.29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17.22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07.5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10.29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02:00:17.22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E7E03F2D-4C40-8A47-B131-FA84CE0A3C0A}" type="datetimeFigureOut">
              <a:rPr lang="ru-RU" smtClean="0"/>
              <a:pPr/>
              <a:t>07.05.2026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err="1"/>
              <a:t>Образец</a:t>
            </a:r>
            <a:r>
              <a:rPr lang="en-US"/>
              <a:t> </a:t>
            </a:r>
            <a:r>
              <a:rPr lang="en-US" err="1"/>
              <a:t>текста</a:t>
            </a:r>
            <a:endParaRPr lang="en-US"/>
          </a:p>
          <a:p>
            <a:pPr lvl="1"/>
            <a:r>
              <a:rPr lang="en-US" err="1"/>
              <a:t>Второй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2"/>
            <a:r>
              <a:rPr lang="en-US" err="1"/>
              <a:t>Третий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3"/>
            <a:r>
              <a:rPr lang="en-US" err="1"/>
              <a:t>Четвертый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en-US"/>
          </a:p>
          <a:p>
            <a:pPr lvl="4"/>
            <a:r>
              <a:rPr lang="en-US" err="1"/>
              <a:t>Пятый</a:t>
            </a:r>
            <a:r>
              <a:rPr lang="en-US"/>
              <a:t> </a:t>
            </a:r>
            <a:r>
              <a:rPr lang="en-US" err="1"/>
              <a:t>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 Regular" charset="0"/>
              </a:defRPr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 Regular" charset="0"/>
              </a:defRPr>
            </a:lvl1pPr>
          </a:lstStyle>
          <a:p>
            <a:fld id="{013FC40D-6FB9-1648-B027-EAD4E7DC4F2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7415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1pPr>
    <a:lvl2pPr marL="1219047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2pPr>
    <a:lvl3pPr marL="2438092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3pPr>
    <a:lvl4pPr marL="3657139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4pPr>
    <a:lvl5pPr marL="4876186" algn="l" defTabSz="1219047" rtl="0" eaLnBrk="1" latinLnBrk="0" hangingPunct="1">
      <a:defRPr sz="3200" b="0" i="0" kern="1200">
        <a:solidFill>
          <a:schemeClr val="tx1"/>
        </a:solidFill>
        <a:latin typeface="Archivo Regular" charset="0"/>
        <a:ea typeface="+mn-ea"/>
        <a:cs typeface="+mn-cs"/>
      </a:defRPr>
    </a:lvl5pPr>
    <a:lvl6pPr marL="6095230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4277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3324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2371" algn="l" defTabSz="1219047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4092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672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882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272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853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99D3A-6FAC-0ABD-C12F-ADDB2E248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6FD32-55D1-7B49-E18C-CA402A26B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0D32C-F3BB-84BE-9B36-A9936EBE2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6D70B-75AE-18A6-AE7B-7750FC43E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1676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C6A4-B145-C65C-50AC-91C048CC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C6ACDE-BC22-A200-4E74-F542DB3D0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5165A-51A4-4906-2634-7D7F82BDA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90AAF-8D8A-22A1-33E6-CDF0FE3B9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060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20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F2D1A-863B-3E4F-364B-4D06DDA6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AF17D6-50C4-2530-D023-AC72811F2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85E92-4349-5875-CE55-4C776313F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B9D95-2FC6-17E6-0233-1971228D2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624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212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5686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6055-A317-752B-23A6-5AB0F21B2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AC0B8-F383-236D-64C8-9A9B1032E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A2D7F-08F5-F150-6D28-069470191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5855C-0F4E-0051-31AA-BBC2C1C22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591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761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3FC40D-6FB9-1648-B027-EAD4E7DC4F2C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027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Gold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0" y="0"/>
            <a:ext cx="11127100" cy="13717588"/>
          </a:xfrm>
          <a:custGeom>
            <a:avLst/>
            <a:gdLst>
              <a:gd name="connsiteX0" fmla="*/ 0 w 11127100"/>
              <a:gd name="connsiteY0" fmla="*/ 0 h 13717588"/>
              <a:gd name="connsiteX1" fmla="*/ 11127100 w 11127100"/>
              <a:gd name="connsiteY1" fmla="*/ 0 h 13717588"/>
              <a:gd name="connsiteX2" fmla="*/ 8708318 w 11127100"/>
              <a:gd name="connsiteY2" fmla="*/ 13717588 h 13717588"/>
              <a:gd name="connsiteX3" fmla="*/ 0 w 11127100"/>
              <a:gd name="connsiteY3" fmla="*/ 13717588 h 1371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27100" h="13717588">
                <a:moveTo>
                  <a:pt x="0" y="0"/>
                </a:moveTo>
                <a:lnTo>
                  <a:pt x="11127100" y="0"/>
                </a:lnTo>
                <a:lnTo>
                  <a:pt x="8708318" y="13717588"/>
                </a:lnTo>
                <a:lnTo>
                  <a:pt x="0" y="1371758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723" y="4922008"/>
            <a:ext cx="5553398" cy="35369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12120786" y="4592117"/>
            <a:ext cx="10369152" cy="2693045"/>
          </a:xfrm>
        </p:spPr>
        <p:txBody>
          <a:bodyPr anchor="b" anchorCtr="0"/>
          <a:lstStyle>
            <a:lvl1pPr>
              <a:defRPr b="1" i="0" cap="all" normalizeH="0" baseline="0">
                <a:latin typeface="Franklin Gothic Demi" panose="020B0603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Text Placeholder 5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2120786" y="7573194"/>
            <a:ext cx="10369152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886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/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977" userDrawn="1">
          <p15:clr>
            <a:srgbClr val="FBAE40"/>
          </p15:clr>
        </p15:guide>
        <p15:guide id="2" pos="12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Black 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 userDrawn="1"/>
        </p:nvSpPr>
        <p:spPr>
          <a:xfrm>
            <a:off x="0" y="0"/>
            <a:ext cx="11127100" cy="13717588"/>
          </a:xfrm>
          <a:custGeom>
            <a:avLst/>
            <a:gdLst>
              <a:gd name="connsiteX0" fmla="*/ 0 w 11127100"/>
              <a:gd name="connsiteY0" fmla="*/ 0 h 13717588"/>
              <a:gd name="connsiteX1" fmla="*/ 11127100 w 11127100"/>
              <a:gd name="connsiteY1" fmla="*/ 0 h 13717588"/>
              <a:gd name="connsiteX2" fmla="*/ 8708318 w 11127100"/>
              <a:gd name="connsiteY2" fmla="*/ 13717588 h 13717588"/>
              <a:gd name="connsiteX3" fmla="*/ 0 w 11127100"/>
              <a:gd name="connsiteY3" fmla="*/ 13717588 h 1371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27100" h="13717588">
                <a:moveTo>
                  <a:pt x="0" y="0"/>
                </a:moveTo>
                <a:lnTo>
                  <a:pt x="11127100" y="0"/>
                </a:lnTo>
                <a:lnTo>
                  <a:pt x="8708318" y="13717588"/>
                </a:lnTo>
                <a:lnTo>
                  <a:pt x="0" y="1371758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2120786" y="4572794"/>
            <a:ext cx="10297144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13939" y="7553871"/>
            <a:ext cx="10303991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667E11-21B5-5643-A366-C2095A2E9B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359" y="4908408"/>
            <a:ext cx="5596346" cy="356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Pattern O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0680626" y="2034258"/>
            <a:ext cx="0" cy="96490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4554538"/>
            <a:ext cx="10513168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solidFill>
                  <a:schemeClr val="bg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247386-28DE-7E47-97E0-7C2CCC4B9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40" y="5016240"/>
            <a:ext cx="5596346" cy="356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Pattern Tw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485669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accent3"/>
                </a:solidFill>
                <a:latin typeface="Franklin Gothic Demi" panose="020B0603020102020204" pitchFamily="34" charset="0"/>
                <a:ea typeface="Franklin Gothic Demi" panose="020B0603020102020204" pitchFamily="34" charset="0"/>
                <a:cs typeface="Franklin Gothic Demi" panose="020B0603020102020204" pitchFamily="34" charset="0"/>
              </a:defRPr>
            </a:lvl1pPr>
          </a:lstStyle>
          <a:p>
            <a:r>
              <a:rPr lang="en-US"/>
              <a:t>CLICK TO EDIT TITLE</a:t>
            </a:r>
            <a:endParaRPr lang="ru-RU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6000" b="1" i="0" cap="all" baseline="0">
                <a:solidFill>
                  <a:schemeClr val="bg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1219229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2pPr>
            <a:lvl3pPr marL="2438461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3pPr>
            <a:lvl4pPr marL="365769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4pPr>
            <a:lvl5pPr marL="487692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4C4B9-CB78-7A46-B21D-7CFDF0591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1" y="3124994"/>
            <a:ext cx="6226825" cy="3965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10680626" y="0"/>
            <a:ext cx="13704962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lnSpc>
                <a:spcPts val="2500"/>
              </a:lnSpc>
              <a:spcBef>
                <a:spcPts val="0"/>
              </a:spcBef>
              <a:buNone/>
              <a:defRPr sz="1800" b="0" i="0" cap="all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5334794"/>
            <a:ext cx="10513168" cy="1346522"/>
          </a:xfrm>
        </p:spPr>
        <p:txBody>
          <a:bodyPr anchor="b" anchorCtr="0"/>
          <a:lstStyle>
            <a:lvl1pPr>
              <a:defRPr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6969348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solidFill>
                  <a:schemeClr val="bg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FA3730-6395-AC44-82F6-18C947DD89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40" y="5016239"/>
            <a:ext cx="5596346" cy="356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Minimal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10680626" y="2034258"/>
            <a:ext cx="0" cy="96490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20786" y="4554538"/>
            <a:ext cx="10513168" cy="2693045"/>
          </a:xfrm>
        </p:spPr>
        <p:txBody>
          <a:bodyPr anchor="b" anchorCtr="0"/>
          <a:lstStyle>
            <a:lvl1pPr>
              <a:defRPr b="1" cap="all" baseline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12120786" y="7535615"/>
            <a:ext cx="10513168" cy="1800200"/>
          </a:xfrm>
          <a:prstGeom prst="rect">
            <a:avLst/>
          </a:prstGeom>
        </p:spPr>
        <p:txBody>
          <a:bodyPr/>
          <a:lstStyle>
            <a:lvl1pPr>
              <a:defRPr b="1" i="0" cap="all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5D21FE-C51C-FF4E-9798-03F4F2AED1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40" y="5016239"/>
            <a:ext cx="5596346" cy="3564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>
        <p:tmplLst>
          <p:tmpl lvl="1">
            <p:tnLst>
              <p:par>
                <p:cTn presetID="1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+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left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esentation Title Minimal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485669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accent3"/>
                </a:solidFill>
                <a:latin typeface="Franklin Gothic Demi" panose="020B0603020102020204" pitchFamily="34" charset="0"/>
                <a:ea typeface="Franklin Gothic Demi" panose="020B0603020102020204" pitchFamily="34" charset="0"/>
                <a:cs typeface="Franklin Gothic Demi" panose="020B0603020102020204" pitchFamily="34" charset="0"/>
              </a:defRPr>
            </a:lvl1pPr>
          </a:lstStyle>
          <a:p>
            <a:r>
              <a:rPr lang="en-US"/>
              <a:t>CLICK TO EDIT TITLE</a:t>
            </a:r>
            <a:endParaRPr lang="ru-RU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973991"/>
            <a:ext cx="24385588" cy="925894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6000" b="1" i="0" cap="all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1219229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2pPr>
            <a:lvl3pPr marL="2438461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3pPr>
            <a:lvl4pPr marL="365769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4pPr>
            <a:lvl5pPr marL="4876922" indent="0" algn="ctr">
              <a:buNone/>
              <a:defRPr b="1" i="0">
                <a:latin typeface="Archivo" charset="0"/>
                <a:ea typeface="Archivo" charset="0"/>
                <a:cs typeface="Archivo" charset="0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9202C-A63A-6641-9A83-07FDBB38A4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1" y="3024048"/>
            <a:ext cx="6226825" cy="3965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5986025" cy="4078039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volorit</a:t>
            </a:r>
            <a:r>
              <a:rPr lang="en-US"/>
              <a:t> </a:t>
            </a:r>
            <a:r>
              <a:rPr lang="en-US" err="1"/>
              <a:t>iorem</a:t>
            </a:r>
            <a:r>
              <a:rPr lang="en-US"/>
              <a:t>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.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088205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6706105" cy="4757713"/>
          </a:xfrm>
        </p:spPr>
        <p:txBody>
          <a:bodyPr numCol="2" spcCol="914400"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 arum </a:t>
            </a:r>
            <a:r>
              <a:rPr lang="en-US" err="1"/>
              <a:t>sapicimus</a:t>
            </a:r>
            <a:r>
              <a:rPr lang="en-US"/>
              <a:t> </a:t>
            </a:r>
            <a:r>
              <a:rPr lang="en-US" err="1"/>
              <a:t>apidi</a:t>
            </a:r>
            <a:r>
              <a:rPr lang="en-US"/>
              <a:t> </a:t>
            </a:r>
            <a:r>
              <a:rPr lang="en-US" err="1"/>
              <a:t>occates</a:t>
            </a:r>
            <a:r>
              <a:rPr lang="en-US"/>
              <a:t> quae ne </a:t>
            </a:r>
            <a:r>
              <a:rPr lang="en-US" err="1"/>
              <a:t>porem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sum quae et et </a:t>
            </a:r>
            <a:r>
              <a:rPr lang="en-US" err="1"/>
              <a:t>libus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et lit </a:t>
            </a:r>
            <a:r>
              <a:rPr lang="en-US" err="1"/>
              <a:t>repra</a:t>
            </a:r>
            <a:r>
              <a:rPr lang="en-US"/>
              <a:t> </a:t>
            </a:r>
            <a:r>
              <a:rPr lang="en-US" err="1"/>
              <a:t>nat</a:t>
            </a:r>
            <a:r>
              <a:rPr lang="en-US"/>
              <a:t> </a:t>
            </a:r>
            <a:r>
              <a:rPr lang="en-US" err="1"/>
              <a:t>ventios</a:t>
            </a:r>
            <a:r>
              <a:rPr lang="en-US"/>
              <a:t> </a:t>
            </a:r>
            <a:r>
              <a:rPr lang="en-US" err="1"/>
              <a:t>nonsectatio</a:t>
            </a:r>
            <a:r>
              <a:rPr lang="en-US"/>
              <a:t> </a:t>
            </a:r>
            <a:r>
              <a:rPr lang="en-US" err="1"/>
              <a:t>venis</a:t>
            </a:r>
            <a:r>
              <a:rPr lang="en-US"/>
              <a:t> ate non nus.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21032788" cy="1218282"/>
          </a:xfrm>
        </p:spPr>
        <p:txBody>
          <a:bodyPr/>
          <a:lstStyle/>
          <a:p>
            <a:r>
              <a:rPr lang="en-US"/>
              <a:t>CLICK TO ADD HEADLINE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1432599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715794"/>
            <a:ext cx="17066145" cy="5181600"/>
          </a:xfrm>
        </p:spPr>
        <p:txBody>
          <a:bodyPr numCol="3" spcCol="914400"/>
          <a:lstStyle>
            <a:lvl1pPr marL="0" marR="0" indent="0" algn="l" defTabSz="2438462" rtl="0" eaLnBrk="1" fontAlgn="auto" latinLnBrk="0" hangingPunct="1">
              <a:lnSpc>
                <a:spcPts val="4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8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  <a:p>
            <a:endParaRPr lang="en-US">
              <a:effectLst/>
              <a:latin typeface="Helvetica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21032788" cy="1218282"/>
          </a:xfrm>
        </p:spPr>
        <p:txBody>
          <a:bodyPr/>
          <a:lstStyle/>
          <a:p>
            <a:r>
              <a:rPr lang="en-US"/>
              <a:t>CLICK TO ADD HEADLINE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711825" y="11506994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flipH="1">
            <a:off x="17821142" y="0"/>
            <a:ext cx="6564449" cy="6858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11256690" y="0"/>
            <a:ext cx="6564449" cy="6858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flipH="1">
            <a:off x="11256690" y="6858794"/>
            <a:ext cx="6564449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92454" y="2521471"/>
            <a:ext cx="8812108" cy="2462213"/>
          </a:xfrm>
        </p:spPr>
        <p:txBody>
          <a:bodyPr/>
          <a:lstStyle>
            <a:lvl1pPr>
              <a:defRPr sz="8000" b="1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292455" y="5411004"/>
            <a:ext cx="7948011" cy="4757713"/>
          </a:xfrm>
        </p:spPr>
        <p:txBody>
          <a:bodyPr/>
          <a:lstStyle>
            <a:lvl1pPr marL="0" indent="0">
              <a:buNone/>
              <a:defRPr lang="en-US" sz="3300" b="0" i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2120786" y="7789861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8757243" y="7789861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2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2120786" y="947949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8757243" y="947949"/>
            <a:ext cx="4824536" cy="4962897"/>
          </a:xfrm>
        </p:spPr>
        <p:txBody>
          <a:bodyPr numCol="1" spcCol="914400"/>
          <a:lstStyle>
            <a:lvl1pPr marL="0" indent="0">
              <a:lnSpc>
                <a:spcPts val="4300"/>
              </a:lnSpc>
              <a:buNone/>
              <a:defRPr lang="en-US" sz="25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1292454" y="1057989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3"/>
          <p:cNvSpPr>
            <a:spLocks noGrp="1"/>
          </p:cNvSpPr>
          <p:nvPr>
            <p:ph type="body" sz="quarter" idx="14" hasCustomPrompt="1"/>
          </p:nvPr>
        </p:nvSpPr>
        <p:spPr>
          <a:xfrm>
            <a:off x="1419214" y="6996938"/>
            <a:ext cx="6268502" cy="5262457"/>
          </a:xfrm>
          <a:prstGeom prst="rect">
            <a:avLst/>
          </a:prstGeom>
        </p:spPr>
        <p:txBody>
          <a:bodyPr/>
          <a:lstStyle>
            <a:lvl1pPr>
              <a:defRPr lang="en-US" sz="2200" b="0" i="0" baseline="0" dirty="0">
                <a:solidFill>
                  <a:schemeClr val="tx2"/>
                </a:solidFill>
                <a:latin typeface="Archivo Regular" charset="0"/>
                <a:ea typeface="Archivo Regular" charset="0"/>
                <a:cs typeface="Archivo Regular" charset="0"/>
              </a:defRPr>
            </a:lvl1pPr>
          </a:lstStyle>
          <a:p>
            <a:pPr marL="0" lvl="0" indent="0">
              <a:lnSpc>
                <a:spcPct val="150000"/>
              </a:lnSpc>
              <a:buNone/>
            </a:pPr>
            <a:r>
              <a:rPr lang="en-US"/>
              <a:t>Example text</a:t>
            </a:r>
          </a:p>
        </p:txBody>
      </p:sp>
      <p:sp>
        <p:nvSpPr>
          <p:cNvPr id="7" name="Прямоугольник 6"/>
          <p:cNvSpPr/>
          <p:nvPr userDrawn="1"/>
        </p:nvSpPr>
        <p:spPr>
          <a:xfrm rot="10800000" flipH="1">
            <a:off x="0" y="6858794"/>
            <a:ext cx="12192794" cy="685879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rot="10800000" flipH="1">
            <a:off x="12192794" y="6858794"/>
            <a:ext cx="12192794" cy="68587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rot="10800000" flipH="1">
            <a:off x="12192794" y="0"/>
            <a:ext cx="12192794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419210" y="8154938"/>
            <a:ext cx="8829368" cy="4078039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13776970" y="8154938"/>
            <a:ext cx="8829368" cy="4078039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13776970" y="1386186"/>
            <a:ext cx="8829368" cy="4078039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tx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1319586" y="2521470"/>
            <a:ext cx="10180260" cy="2436564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/>
              <a:t>CLICK TO ADD HEADLINE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Grid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 rot="10800000">
            <a:off x="0" y="6858794"/>
            <a:ext cx="12192794" cy="685879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18" name="Прямоугольник 17"/>
          <p:cNvSpPr/>
          <p:nvPr userDrawn="1"/>
        </p:nvSpPr>
        <p:spPr>
          <a:xfrm rot="10800000" flipH="1">
            <a:off x="12192794" y="0"/>
            <a:ext cx="12192794" cy="137175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b="0" i="0">
              <a:latin typeface="Archivo Regular" charset="0"/>
            </a:endParaRP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419210" y="8154938"/>
            <a:ext cx="8829368" cy="4078039"/>
          </a:xfrm>
        </p:spPr>
        <p:txBody>
          <a:bodyPr/>
          <a:lstStyle>
            <a:lvl1pPr marL="0" indent="0">
              <a:buNone/>
              <a:defRPr lang="en-US" sz="3300" b="0" i="0" smtClean="0">
                <a:solidFill>
                  <a:schemeClr val="tx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3876825" y="1992287"/>
            <a:ext cx="8829368" cy="9515425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smtClean="0">
                <a:solidFill>
                  <a:schemeClr val="bg1"/>
                </a:solidFill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</a:t>
            </a:r>
            <a:r>
              <a:rPr lang="en-US"/>
              <a:t>.</a:t>
            </a:r>
            <a:r>
              <a:rPr lang="en-US">
                <a:effectLst/>
                <a:latin typeface="Helvetica" charset="0"/>
              </a:rPr>
              <a:t>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</a:t>
            </a:r>
            <a:endParaRPr lang="en-US">
              <a:effectLst/>
              <a:latin typeface="Helvetica" charset="0"/>
            </a:endParaRPr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>
          <a:xfrm>
            <a:off x="1319586" y="2521470"/>
            <a:ext cx="10180260" cy="2436564"/>
          </a:xfrm>
        </p:spPr>
        <p:txBody>
          <a:bodyPr/>
          <a:lstStyle>
            <a:lvl1pPr>
              <a:defRPr sz="8000"/>
            </a:lvl1pPr>
          </a:lstStyle>
          <a:p>
            <a:r>
              <a:rPr lang="en-US"/>
              <a:t>CLICK TO ADD HEADLINE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e Column Text"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318989" y="3906466"/>
            <a:ext cx="15554325" cy="83099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5400" b="1" cap="all" baseline="0"/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711825" y="5922690"/>
            <a:ext cx="15986025" cy="4078039"/>
          </a:xfrm>
        </p:spPr>
        <p:txBody>
          <a:bodyPr/>
          <a:lstStyle>
            <a:lvl1pPr marL="0" marR="0" indent="0" algn="l" defTabSz="2438462" rtl="0" eaLnBrk="1" fontAlgn="auto" latinLnBrk="0" hangingPunct="1">
              <a:lnSpc>
                <a:spcPts val="5300"/>
              </a:lnSpc>
              <a:spcBef>
                <a:spcPts val="0"/>
              </a:spcBef>
              <a:spcAft>
                <a:spcPts val="25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3300" b="0" i="0" baseline="0" smtClean="0">
                <a:effectLst/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Click to add text.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,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 </a:t>
            </a:r>
            <a:r>
              <a:rPr lang="en-US" err="1"/>
              <a:t>volorit</a:t>
            </a:r>
            <a:r>
              <a:rPr lang="en-US"/>
              <a:t> </a:t>
            </a:r>
            <a:r>
              <a:rPr lang="en-US" err="1"/>
              <a:t>iorem</a:t>
            </a:r>
            <a:r>
              <a:rPr lang="en-US"/>
              <a:t>. Bea </a:t>
            </a:r>
            <a:r>
              <a:rPr lang="en-US" err="1"/>
              <a:t>cus</a:t>
            </a:r>
            <a:r>
              <a:rPr lang="en-US"/>
              <a:t> </a:t>
            </a:r>
            <a:r>
              <a:rPr lang="en-US" err="1"/>
              <a:t>eatis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accus</a:t>
            </a:r>
            <a:r>
              <a:rPr lang="en-US"/>
              <a:t>, ne </a:t>
            </a:r>
            <a:r>
              <a:rPr lang="en-US" err="1"/>
              <a:t>molenda</a:t>
            </a:r>
            <a:r>
              <a:rPr lang="en-US"/>
              <a:t> </a:t>
            </a:r>
            <a:r>
              <a:rPr lang="en-US" err="1"/>
              <a:t>invelit</a:t>
            </a:r>
            <a:r>
              <a:rPr lang="en-US"/>
              <a:t> </a:t>
            </a:r>
            <a:r>
              <a:rPr lang="en-US" err="1"/>
              <a:t>iurepudae</a:t>
            </a:r>
            <a:r>
              <a:rPr lang="en-US"/>
              <a:t> </a:t>
            </a:r>
            <a:r>
              <a:rPr lang="en-US" err="1"/>
              <a:t>maximin</a:t>
            </a:r>
            <a:r>
              <a:rPr lang="en-US"/>
              <a:t> </a:t>
            </a:r>
            <a:r>
              <a:rPr lang="en-US" err="1"/>
              <a:t>imagnate</a:t>
            </a:r>
            <a:r>
              <a:rPr lang="en-US"/>
              <a:t> </a:t>
            </a:r>
            <a:r>
              <a:rPr lang="en-US" err="1"/>
              <a:t>officima</a:t>
            </a:r>
            <a:r>
              <a:rPr lang="en-US"/>
              <a:t> </a:t>
            </a:r>
            <a:r>
              <a:rPr lang="en-US" err="1"/>
              <a:t>corruptas</a:t>
            </a:r>
            <a:r>
              <a:rPr lang="en-US"/>
              <a:t> </a:t>
            </a:r>
            <a:r>
              <a:rPr lang="en-US" err="1"/>
              <a:t>simoditam</a:t>
            </a:r>
            <a:r>
              <a:rPr lang="en-US"/>
              <a:t> </a:t>
            </a:r>
            <a:r>
              <a:rPr lang="en-US" err="1"/>
              <a:t>repersp</a:t>
            </a:r>
            <a:r>
              <a:rPr lang="en-US"/>
              <a:t> </a:t>
            </a:r>
            <a:r>
              <a:rPr lang="en-US" err="1"/>
              <a:t>erumenimi</a:t>
            </a:r>
            <a:r>
              <a:rPr lang="en-US"/>
              <a:t>, </a:t>
            </a:r>
            <a:r>
              <a:rPr lang="en-US" err="1"/>
              <a:t>sitate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maio</a:t>
            </a:r>
            <a:r>
              <a:rPr lang="en-US"/>
              <a:t>. </a:t>
            </a:r>
            <a:r>
              <a:rPr lang="en-US" err="1"/>
              <a:t>Incias</a:t>
            </a:r>
            <a:r>
              <a:rPr lang="en-US"/>
              <a:t> et </a:t>
            </a:r>
            <a:r>
              <a:rPr lang="en-US" err="1"/>
              <a:t>volupta</a:t>
            </a:r>
            <a:r>
              <a:rPr lang="en-US"/>
              <a:t> </a:t>
            </a:r>
            <a:r>
              <a:rPr lang="en-US" err="1"/>
              <a:t>ecestet</a:t>
            </a:r>
            <a:r>
              <a:rPr lang="en-US"/>
              <a:t>,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am </a:t>
            </a:r>
            <a:r>
              <a:rPr lang="en-US" err="1"/>
              <a:t>ipic</a:t>
            </a:r>
            <a:r>
              <a:rPr lang="en-US"/>
              <a:t> tempore </a:t>
            </a:r>
            <a:r>
              <a:rPr lang="en-US" err="1"/>
              <a:t>explandam</a:t>
            </a:r>
            <a:r>
              <a:rPr lang="en-US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3902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5450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5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lnSpc>
                <a:spcPts val="2500"/>
              </a:lnSpc>
              <a:spcBef>
                <a:spcPts val="0"/>
              </a:spcBef>
              <a:buNone/>
              <a:defRPr sz="180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3" name="Title 32"/>
          <p:cNvSpPr>
            <a:spLocks noGrp="1"/>
          </p:cNvSpPr>
          <p:nvPr>
            <p:ph type="title" hasCustomPrompt="1"/>
          </p:nvPr>
        </p:nvSpPr>
        <p:spPr>
          <a:xfrm>
            <a:off x="0" y="7650882"/>
            <a:ext cx="24385588" cy="1800493"/>
          </a:xfrm>
        </p:spPr>
        <p:txBody>
          <a:bodyPr anchor="b" anchorCtr="0"/>
          <a:lstStyle>
            <a:lvl1pPr algn="ctr">
              <a:defRPr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0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0" y="9434826"/>
            <a:ext cx="24385588" cy="1107996"/>
          </a:xfrm>
        </p:spPr>
        <p:txBody>
          <a:bodyPr wrap="square">
            <a:spAutoFit/>
          </a:bodyPr>
          <a:lstStyle>
            <a:lvl1pPr algn="ctr"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rot="660000">
            <a:off x="-1256206" y="-419358"/>
            <a:ext cx="3042063" cy="14056875"/>
          </a:xfrm>
          <a:custGeom>
            <a:avLst/>
            <a:gdLst>
              <a:gd name="connsiteX0" fmla="*/ 0 w 3042063"/>
              <a:gd name="connsiteY0" fmla="*/ 591318 h 14056875"/>
              <a:gd name="connsiteX1" fmla="*/ 3042063 w 3042063"/>
              <a:gd name="connsiteY1" fmla="*/ 0 h 14056875"/>
              <a:gd name="connsiteX2" fmla="*/ 3042063 w 3042063"/>
              <a:gd name="connsiteY2" fmla="*/ 13974336 h 14056875"/>
              <a:gd name="connsiteX3" fmla="*/ 2617439 w 3042063"/>
              <a:gd name="connsiteY3" fmla="*/ 14056875 h 14056875"/>
              <a:gd name="connsiteX4" fmla="*/ 0 w 3042063"/>
              <a:gd name="connsiteY4" fmla="*/ 591318 h 1405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2063" h="14056875">
                <a:moveTo>
                  <a:pt x="0" y="591318"/>
                </a:moveTo>
                <a:lnTo>
                  <a:pt x="3042063" y="0"/>
                </a:lnTo>
                <a:lnTo>
                  <a:pt x="3042063" y="13974336"/>
                </a:lnTo>
                <a:lnTo>
                  <a:pt x="2617439" y="14056875"/>
                </a:lnTo>
                <a:lnTo>
                  <a:pt x="0" y="591318"/>
                </a:lnTo>
                <a:close/>
              </a:path>
            </a:pathLst>
          </a:custGeom>
          <a:solidFill>
            <a:srgbClr val="FBC7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Intr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rot="660000">
            <a:off x="-1256206" y="-419358"/>
            <a:ext cx="3042063" cy="14056875"/>
          </a:xfrm>
          <a:custGeom>
            <a:avLst/>
            <a:gdLst>
              <a:gd name="connsiteX0" fmla="*/ 0 w 3042063"/>
              <a:gd name="connsiteY0" fmla="*/ 591318 h 14056875"/>
              <a:gd name="connsiteX1" fmla="*/ 3042063 w 3042063"/>
              <a:gd name="connsiteY1" fmla="*/ 0 h 14056875"/>
              <a:gd name="connsiteX2" fmla="*/ 3042063 w 3042063"/>
              <a:gd name="connsiteY2" fmla="*/ 13974336 h 14056875"/>
              <a:gd name="connsiteX3" fmla="*/ 2617439 w 3042063"/>
              <a:gd name="connsiteY3" fmla="*/ 14056875 h 14056875"/>
              <a:gd name="connsiteX4" fmla="*/ 0 w 3042063"/>
              <a:gd name="connsiteY4" fmla="*/ 591318 h 14056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2063" h="14056875">
                <a:moveTo>
                  <a:pt x="0" y="591318"/>
                </a:moveTo>
                <a:lnTo>
                  <a:pt x="3042063" y="0"/>
                </a:lnTo>
                <a:lnTo>
                  <a:pt x="3042063" y="13974336"/>
                </a:lnTo>
                <a:lnTo>
                  <a:pt x="2617439" y="14056875"/>
                </a:lnTo>
                <a:lnTo>
                  <a:pt x="0" y="591318"/>
                </a:lnTo>
                <a:close/>
              </a:path>
            </a:pathLst>
          </a:custGeom>
          <a:solidFill>
            <a:srgbClr val="FBC71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6" name="Title Placeholder 7"/>
          <p:cNvSpPr txBox="1">
            <a:spLocks/>
          </p:cNvSpPr>
          <p:nvPr userDrawn="1"/>
        </p:nvSpPr>
        <p:spPr>
          <a:xfrm>
            <a:off x="4919986" y="6138714"/>
            <a:ext cx="18218024" cy="11079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2438462" rtl="0" eaLnBrk="1" latinLnBrk="0" hangingPunct="1">
              <a:spcBef>
                <a:spcPct val="0"/>
              </a:spcBef>
              <a:buNone/>
              <a:defRPr sz="11700" kern="1200">
                <a:solidFill>
                  <a:schemeClr val="tx1"/>
                </a:solidFill>
                <a:latin typeface="Archivo Black" charset="0"/>
                <a:ea typeface="Archivo Black" charset="0"/>
                <a:cs typeface="Archivo Black" charset="0"/>
              </a:defRPr>
            </a:lvl1pPr>
          </a:lstStyle>
          <a:p>
            <a:r>
              <a:rPr lang="en-US" sz="7200"/>
              <a:t>CLICK TO EDIT SUB HEADLINE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4847978" y="5002842"/>
            <a:ext cx="18218024" cy="180049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Dark I Patter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ntro Light I Pattern">
    <p:bg>
      <p:bgPr>
        <a:blipFill dpi="0" rotWithShape="1">
          <a:blip r:embed="rId2">
            <a:alphaModFix amt="53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" name="Text Placeholder 39"/>
          <p:cNvSpPr>
            <a:spLocks noGrp="1"/>
          </p:cNvSpPr>
          <p:nvPr>
            <p:ph type="body" sz="quarter" idx="21" hasCustomPrompt="1"/>
          </p:nvPr>
        </p:nvSpPr>
        <p:spPr>
          <a:xfrm>
            <a:off x="4847978" y="6786786"/>
            <a:ext cx="14545616" cy="1107996"/>
          </a:xfrm>
        </p:spPr>
        <p:txBody>
          <a:bodyPr>
            <a:spAutoFit/>
          </a:bodyPr>
          <a:lstStyle>
            <a:lvl1pPr>
              <a:defRPr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0"/>
            <a:ext cx="13716000" cy="13716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Or, drag a photo on to this box.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52490" y="3276547"/>
            <a:ext cx="8136904" cy="2049792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4982341" y="6463061"/>
            <a:ext cx="8137525" cy="3877985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add text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4983135" y="10882058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183801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0" y="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9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0" y="685800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0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6858000" y="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1" name="Picture Placeholder 5"/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6858000" y="6858000"/>
            <a:ext cx="6858000" cy="6858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 Regular"/>
                <a:ea typeface="Franklin Gothic Book Regular"/>
                <a:cs typeface="Franklin Gothic Book Regular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35994" y="3276547"/>
            <a:ext cx="8136904" cy="2049792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4982341" y="6463061"/>
            <a:ext cx="8137525" cy="37995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text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14982341" y="10897394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Grid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4" name="Picture Placeholder 5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457200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5" name="Picture Placeholder 5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144000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6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7" name="Picture Placeholder 5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7200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8" name="Picture Placeholder 5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144000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19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0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457200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1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144000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i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952490" y="3276547"/>
            <a:ext cx="8136904" cy="2049792"/>
          </a:xfrm>
        </p:spPr>
        <p:txBody>
          <a:bodyPr/>
          <a:lstStyle>
            <a:lvl1pPr>
              <a:defRPr b="1" baseline="0">
                <a:latin typeface="Franklin Gothic Demi" panose="020B0703020102020204" pitchFamily="34" charset="0"/>
              </a:defRPr>
            </a:lvl1pPr>
          </a:lstStyle>
          <a:p>
            <a:r>
              <a:rPr lang="en-US"/>
              <a:t>Click to edit Headline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3" hasCustomPrompt="1"/>
          </p:nvPr>
        </p:nvSpPr>
        <p:spPr>
          <a:xfrm>
            <a:off x="14982341" y="6463061"/>
            <a:ext cx="8137525" cy="379956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add text </a:t>
            </a:r>
            <a:r>
              <a:rPr lang="en-US" err="1"/>
              <a:t>Laborror</a:t>
            </a:r>
            <a:r>
              <a:rPr lang="en-US"/>
              <a:t> </a:t>
            </a:r>
            <a:r>
              <a:rPr lang="en-US" err="1"/>
              <a:t>eculparum</a:t>
            </a:r>
            <a:r>
              <a:rPr lang="en-US"/>
              <a:t> del in pro </a:t>
            </a:r>
            <a:r>
              <a:rPr lang="en-US" err="1"/>
              <a:t>esed</a:t>
            </a:r>
            <a:r>
              <a:rPr lang="en-US"/>
              <a:t> </a:t>
            </a:r>
            <a:r>
              <a:rPr lang="en-US" err="1"/>
              <a:t>entio</a:t>
            </a:r>
            <a:r>
              <a:rPr lang="en-US"/>
              <a:t>. Name </a:t>
            </a:r>
            <a:r>
              <a:rPr lang="en-US" err="1"/>
              <a:t>ped</a:t>
            </a:r>
            <a:r>
              <a:rPr lang="en-US"/>
              <a:t> </a:t>
            </a:r>
            <a:r>
              <a:rPr lang="en-US" err="1"/>
              <a:t>ea</a:t>
            </a:r>
            <a:r>
              <a:rPr lang="en-US"/>
              <a:t> que </a:t>
            </a:r>
            <a:r>
              <a:rPr lang="en-US" err="1"/>
              <a:t>rehendaepre</a:t>
            </a:r>
            <a:r>
              <a:rPr lang="en-US"/>
              <a:t> </a:t>
            </a:r>
            <a:r>
              <a:rPr lang="en-US" err="1"/>
              <a:t>occus</a:t>
            </a:r>
            <a:r>
              <a:rPr lang="en-US"/>
              <a:t> </a:t>
            </a:r>
            <a:r>
              <a:rPr lang="en-US" err="1"/>
              <a:t>dionem</a:t>
            </a:r>
            <a:r>
              <a:rPr lang="en-US"/>
              <a:t> </a:t>
            </a:r>
            <a:r>
              <a:rPr lang="en-US" err="1"/>
              <a:t>quatecta</a:t>
            </a:r>
            <a:r>
              <a:rPr lang="en-US"/>
              <a:t> qui </a:t>
            </a:r>
            <a:r>
              <a:rPr lang="en-US" err="1"/>
              <a:t>bea</a:t>
            </a:r>
            <a:r>
              <a:rPr lang="en-US"/>
              <a:t> </a:t>
            </a:r>
            <a:r>
              <a:rPr lang="en-US" err="1"/>
              <a:t>voloriassus</a:t>
            </a:r>
            <a:r>
              <a:rPr lang="en-US"/>
              <a:t> </a:t>
            </a:r>
            <a:r>
              <a:rPr lang="en-US" err="1"/>
              <a:t>ilibusa</a:t>
            </a:r>
            <a:r>
              <a:rPr lang="en-US"/>
              <a:t> </a:t>
            </a:r>
            <a:r>
              <a:rPr lang="en-US" err="1"/>
              <a:t>velenecto</a:t>
            </a:r>
            <a:r>
              <a:rPr lang="en-US"/>
              <a:t> </a:t>
            </a:r>
            <a:r>
              <a:rPr lang="en-US" err="1"/>
              <a:t>imus</a:t>
            </a:r>
            <a:r>
              <a:rPr lang="en-US"/>
              <a:t>.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hariaestiis</a:t>
            </a:r>
            <a:r>
              <a:rPr lang="en-US"/>
              <a:t> </a:t>
            </a:r>
            <a:r>
              <a:rPr lang="en-US" err="1"/>
              <a:t>eosapidunt</a:t>
            </a:r>
            <a:r>
              <a:rPr lang="en-US"/>
              <a:t> quam </a:t>
            </a:r>
            <a:r>
              <a:rPr lang="en-US" err="1"/>
              <a:t>suntiusdae</a:t>
            </a:r>
            <a:r>
              <a:rPr lang="en-US"/>
              <a:t> </a:t>
            </a:r>
            <a:r>
              <a:rPr lang="en-US" err="1"/>
              <a:t>nihicidem</a:t>
            </a:r>
            <a:r>
              <a:rPr lang="en-US"/>
              <a:t> rem. </a:t>
            </a:r>
            <a:r>
              <a:rPr lang="en-US" err="1"/>
              <a:t>Ut</a:t>
            </a:r>
            <a:r>
              <a:rPr lang="en-US"/>
              <a:t> lam, </a:t>
            </a:r>
            <a:r>
              <a:rPr lang="en-US" err="1"/>
              <a:t>odi</a:t>
            </a:r>
            <a:r>
              <a:rPr lang="en-US"/>
              <a:t> id </a:t>
            </a:r>
            <a:r>
              <a:rPr lang="en-US" err="1"/>
              <a:t>ea</a:t>
            </a:r>
            <a:r>
              <a:rPr lang="en-US"/>
              <a:t> sit et </a:t>
            </a:r>
            <a:r>
              <a:rPr lang="en-US" err="1"/>
              <a:t>laut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lique</a:t>
            </a:r>
            <a:r>
              <a:rPr lang="en-US"/>
              <a:t> quid </a:t>
            </a:r>
            <a:r>
              <a:rPr lang="en-US" err="1"/>
              <a:t>modiae</a:t>
            </a:r>
            <a:r>
              <a:rPr lang="en-US"/>
              <a:t> </a:t>
            </a:r>
            <a:r>
              <a:rPr lang="en-US" err="1"/>
              <a:t>endi</a:t>
            </a:r>
            <a:r>
              <a:rPr lang="en-US"/>
              <a:t> </a:t>
            </a:r>
            <a:r>
              <a:rPr lang="en-US" err="1"/>
              <a:t>vitem</a:t>
            </a:r>
            <a:r>
              <a:rPr lang="en-US"/>
              <a:t>.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4" hasCustomPrompt="1"/>
          </p:nvPr>
        </p:nvSpPr>
        <p:spPr>
          <a:xfrm>
            <a:off x="14952490" y="5410994"/>
            <a:ext cx="8197229" cy="67710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 b="1" cap="all" baseline="0"/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14982341" y="10844335"/>
            <a:ext cx="6933406" cy="607795"/>
          </a:xfrm>
        </p:spPr>
        <p:txBody>
          <a:bodyPr/>
          <a:lstStyle>
            <a:lvl1pPr marL="457200" indent="-457200"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Click to add bulleted list</a:t>
            </a:r>
          </a:p>
        </p:txBody>
      </p:sp>
    </p:spTree>
    <p:extLst>
      <p:ext uri="{BB962C8B-B14F-4D97-AF65-F5344CB8AC3E}">
        <p14:creationId xmlns:p14="http://schemas.microsoft.com/office/powerpoint/2010/main" val="171658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hoto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43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5" name="Picture Placeholder 5"/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315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6" name="Picture Placeholder 5"/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9887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7" name="Picture Placeholder 5"/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459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8" name="Picture Placeholder 5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031522" y="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39" name="Picture Placeholder 5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43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0" name="Picture Placeholder 5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315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1" name="Picture Placeholder 5"/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887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2" name="Picture Placeholder 5"/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4459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3" name="Picture Placeholder 5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9031522" y="4572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4" name="Picture Placeholder 5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743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5" name="Picture Placeholder 5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5315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6" name="Picture Placeholder 5"/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9887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7" name="Picture Placeholder 5"/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14459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  <p:sp>
        <p:nvSpPr>
          <p:cNvPr id="48" name="Picture Placeholder 5"/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9031522" y="9144000"/>
            <a:ext cx="4572000" cy="4572000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18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</p:spTree>
    <p:extLst>
      <p:ext uri="{BB962C8B-B14F-4D97-AF65-F5344CB8AC3E}">
        <p14:creationId xmlns:p14="http://schemas.microsoft.com/office/powerpoint/2010/main" val="558294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tIns="1005840">
            <a:normAutofit/>
          </a:bodyPr>
          <a:lstStyle>
            <a:lvl1pPr marL="0" indent="0" algn="ctr">
              <a:buNone/>
              <a:defRPr sz="3200" b="0" baseline="0"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r>
              <a:rPr lang="en-US"/>
              <a:t>Click icon to add photo. Or, drag your photo on to this box. </a:t>
            </a:r>
            <a:br>
              <a:rPr lang="en-US"/>
            </a:br>
            <a:r>
              <a:rPr lang="en-US"/>
              <a:t>To change photo, delete it and a new placeholder will appear.</a:t>
            </a:r>
          </a:p>
        </p:txBody>
      </p:sp>
    </p:spTree>
    <p:extLst>
      <p:ext uri="{BB962C8B-B14F-4D97-AF65-F5344CB8AC3E}">
        <p14:creationId xmlns:p14="http://schemas.microsoft.com/office/powerpoint/2010/main" val="35560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creen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24385588" cy="13717588"/>
          </a:xfrm>
          <a:prstGeom prst="rect">
            <a:avLst/>
          </a:prstGeom>
          <a:pattFill prst="lgCheck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</p:spPr>
        <p:txBody>
          <a:bodyPr vert="horz" wrap="none" lIns="0" rIns="0" anchor="t" anchorCtr="0">
            <a:noAutofit/>
          </a:bodyPr>
          <a:lstStyle>
            <a:lvl1pPr marL="0" indent="0" algn="ctr">
              <a:buNone/>
              <a:defRPr sz="9600" b="0" baseline="0"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</a:lstStyle>
          <a:p>
            <a:pPr marL="914424" marR="0" lvl="0" indent="-914424" algn="l" defTabSz="24384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Click Icon to add Video</a:t>
            </a:r>
          </a:p>
        </p:txBody>
      </p:sp>
    </p:spTree>
    <p:extLst>
      <p:ext uri="{BB962C8B-B14F-4D97-AF65-F5344CB8AC3E}">
        <p14:creationId xmlns:p14="http://schemas.microsoft.com/office/powerpoint/2010/main" val="1673881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32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e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0" y="9955138"/>
            <a:ext cx="24385588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marR="0" indent="0" algn="ctr" defTabSz="243846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41634" algn="l"/>
              </a:tabLst>
              <a:defRPr sz="9600" b="1" i="0" cap="all" baseline="0">
                <a:solidFill>
                  <a:schemeClr val="tx1"/>
                </a:solidFill>
                <a:latin typeface="Franklin Gothic Demi" panose="020B0703020102020204" pitchFamily="34" charset="0"/>
                <a:ea typeface="Franklin Gothic Demi" panose="020B0703020102020204" pitchFamily="34" charset="0"/>
                <a:cs typeface="Franklin Gothic Demi" panose="020B0703020102020204" pitchFamily="34" charset="0"/>
              </a:defRPr>
            </a:lvl1pPr>
          </a:lstStyle>
          <a:p>
            <a:r>
              <a:rPr lang="en-US"/>
              <a:t>Click to add text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D00D4-5040-2048-9891-F59812A2EF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381" y="3146245"/>
            <a:ext cx="6226825" cy="3965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916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7.emf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9" Type="http://schemas.openxmlformats.org/officeDocument/2006/relationships/image" Target="../media/image7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12120786" y="4381773"/>
            <a:ext cx="8428162" cy="269304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lvl="0"/>
            <a:r>
              <a:rPr lang="en-US"/>
              <a:t>CLICK TO EDIT TITLE</a:t>
            </a:r>
          </a:p>
        </p:txBody>
      </p:sp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12120786" y="7434858"/>
            <a:ext cx="8428162" cy="18002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6500"/>
              </a:lnSpc>
              <a:spcBef>
                <a:spcPts val="1000"/>
              </a:spcBef>
              <a:buFont typeface="Arial"/>
              <a:buNone/>
              <a:defRPr sz="6000" b="1" i="0" kern="1200" baseline="0">
                <a:solidFill>
                  <a:schemeClr val="tx1"/>
                </a:solidFill>
                <a:latin typeface="Archivo" charset="0"/>
                <a:ea typeface="Archivo" charset="0"/>
                <a:cs typeface="Archivo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>
                <a:latin typeface="+mn-lt"/>
              </a:rPr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8128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1" r:id="rId1"/>
    <p:sldLayoutId id="2147484312" r:id="rId2"/>
    <p:sldLayoutId id="2147484310" r:id="rId3"/>
    <p:sldLayoutId id="2147484309" r:id="rId4"/>
    <p:sldLayoutId id="2147484348" r:id="rId5"/>
    <p:sldLayoutId id="2147484346" r:id="rId6"/>
    <p:sldLayoutId id="2147484347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ts val="10500"/>
        </a:lnSpc>
        <a:spcBef>
          <a:spcPct val="0"/>
        </a:spcBef>
        <a:buNone/>
        <a:defRPr lang="en-US" sz="9600" b="1" i="0" kern="1200" dirty="0" smtClean="0">
          <a:solidFill>
            <a:schemeClr val="tx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0" indent="0" algn="l" defTabSz="914400" rtl="0" eaLnBrk="1" latinLnBrk="0" hangingPunct="1">
        <a:lnSpc>
          <a:spcPts val="6500"/>
        </a:lnSpc>
        <a:spcBef>
          <a:spcPts val="1000"/>
        </a:spcBef>
        <a:buFont typeface="Arial"/>
        <a:buNone/>
        <a:defRPr sz="6000" b="1" kern="1200" baseline="0">
          <a:solidFill>
            <a:schemeClr val="tx1"/>
          </a:solidFill>
          <a:latin typeface="Archivo Black" charset="0"/>
          <a:ea typeface="Archivo Black" charset="0"/>
          <a:cs typeface="Archivo Black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/>
          <p:nvPr userDrawn="1"/>
        </p:nvSpPr>
        <p:spPr>
          <a:xfrm>
            <a:off x="2834812" y="0"/>
            <a:ext cx="21550776" cy="13717588"/>
          </a:xfrm>
          <a:custGeom>
            <a:avLst/>
            <a:gdLst>
              <a:gd name="connsiteX0" fmla="*/ 2418781 w 21550776"/>
              <a:gd name="connsiteY0" fmla="*/ 0 h 13717588"/>
              <a:gd name="connsiteX1" fmla="*/ 21550776 w 21550776"/>
              <a:gd name="connsiteY1" fmla="*/ 0 h 13717588"/>
              <a:gd name="connsiteX2" fmla="*/ 21550776 w 21550776"/>
              <a:gd name="connsiteY2" fmla="*/ 13717588 h 13717588"/>
              <a:gd name="connsiteX3" fmla="*/ 0 w 21550776"/>
              <a:gd name="connsiteY3" fmla="*/ 13717588 h 13717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50776" h="13717588">
                <a:moveTo>
                  <a:pt x="2418781" y="0"/>
                </a:moveTo>
                <a:lnTo>
                  <a:pt x="21550776" y="0"/>
                </a:lnTo>
                <a:lnTo>
                  <a:pt x="21550776" y="13717588"/>
                </a:lnTo>
                <a:lnTo>
                  <a:pt x="0" y="137175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1292454" y="2521471"/>
            <a:ext cx="21032788" cy="1218282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ADD HEADLINE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292454" y="4482530"/>
            <a:ext cx="21032788" cy="46807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339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8" r:id="rId1"/>
    <p:sldLayoutId id="2147484319" r:id="rId2"/>
    <p:sldLayoutId id="2147484320" r:id="rId3"/>
    <p:sldLayoutId id="2147484322" r:id="rId4"/>
    <p:sldLayoutId id="2147484323" r:id="rId5"/>
    <p:sldLayoutId id="2147484324" r:id="rId6"/>
    <p:sldLayoutId id="2147484349" r:id="rId7"/>
    <p:sldLayoutId id="2147484350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2438462" rtl="0" eaLnBrk="1" latinLnBrk="0" hangingPunct="1">
        <a:lnSpc>
          <a:spcPts val="9500"/>
        </a:lnSpc>
        <a:spcBef>
          <a:spcPct val="0"/>
        </a:spcBef>
        <a:buNone/>
        <a:defRPr sz="9000" b="1" i="0" kern="1200" cap="all" baseline="0">
          <a:solidFill>
            <a:schemeClr val="tx1"/>
          </a:solidFill>
          <a:latin typeface="Franklin Gothic Demi" panose="020B0603020102020204" pitchFamily="34" charset="0"/>
          <a:ea typeface="Franklin Gothic Demi" panose="020B0603020102020204" pitchFamily="34" charset="0"/>
          <a:cs typeface="Franklin Gothic Demi" panose="020B0603020102020204" pitchFamily="34" charset="0"/>
        </a:defRPr>
      </a:lvl1pPr>
    </p:titleStyle>
    <p:bodyStyle>
      <a:lvl1pPr marL="457200" indent="-4572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91440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46304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210312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651760" indent="-571500" algn="l" defTabSz="2438462" rtl="0" eaLnBrk="1" latinLnBrk="0" hangingPunct="1">
        <a:lnSpc>
          <a:spcPts val="5300"/>
        </a:lnSpc>
        <a:spcBef>
          <a:spcPts val="0"/>
        </a:spcBef>
        <a:spcAft>
          <a:spcPts val="2500"/>
        </a:spcAft>
        <a:buClr>
          <a:schemeClr val="accent3"/>
        </a:buClr>
        <a:buSzPct val="120000"/>
        <a:buFont typeface="Wingdings" charset="2"/>
        <a:buChar char="§"/>
        <a:defRPr sz="3300" b="0" i="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6705767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998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229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460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3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6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9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92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15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38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61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84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847978" y="5002842"/>
            <a:ext cx="18218024" cy="180049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/>
              <a:t>CLICK TO EDIT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847978" y="6902926"/>
            <a:ext cx="16691561" cy="110799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SUBHEAD</a:t>
            </a:r>
          </a:p>
        </p:txBody>
      </p:sp>
    </p:spTree>
    <p:extLst>
      <p:ext uri="{BB962C8B-B14F-4D97-AF65-F5344CB8AC3E}">
        <p14:creationId xmlns:p14="http://schemas.microsoft.com/office/powerpoint/2010/main" val="167511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7" r:id="rId1"/>
    <p:sldLayoutId id="2147484328" r:id="rId2"/>
    <p:sldLayoutId id="2147484329" r:id="rId3"/>
    <p:sldLayoutId id="2147484345" r:id="rId4"/>
    <p:sldLayoutId id="2147484344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defTabSz="2438462" rtl="0" eaLnBrk="1" latinLnBrk="0" hangingPunct="1">
        <a:spcBef>
          <a:spcPct val="0"/>
        </a:spcBef>
        <a:buNone/>
        <a:defRPr sz="11700" b="1" kern="1200" cap="all" baseline="0">
          <a:solidFill>
            <a:schemeClr val="tx1"/>
          </a:solidFill>
          <a:latin typeface="Franklin Gothic Demi" panose="020B0703020102020204" pitchFamily="34" charset="0"/>
          <a:ea typeface="Franklin Gothic Demi" panose="020B0703020102020204" pitchFamily="34" charset="0"/>
          <a:cs typeface="Franklin Gothic Demi" panose="020B0703020102020204" pitchFamily="34" charset="0"/>
        </a:defRPr>
      </a:lvl1pPr>
    </p:titleStyle>
    <p:bodyStyle>
      <a:lvl1pPr marL="0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7200" b="1" i="0" kern="1200" cap="all" baseline="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1219229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75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2pPr>
      <a:lvl3pPr marL="2438461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64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3pPr>
      <a:lvl4pPr marL="3657692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53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4pPr>
      <a:lvl5pPr marL="4876922" indent="0" algn="l" defTabSz="2438462" rtl="0" eaLnBrk="1" latinLnBrk="0" hangingPunct="1">
        <a:spcBef>
          <a:spcPct val="20000"/>
        </a:spcBef>
        <a:buFont typeface="Arial" panose="020B0604020202020204" pitchFamily="34" charset="0"/>
        <a:buNone/>
        <a:defRPr sz="5300" b="1" i="0" kern="1200">
          <a:solidFill>
            <a:schemeClr val="tx1"/>
          </a:solidFill>
          <a:latin typeface="Archivo" charset="0"/>
          <a:ea typeface="Archivo" charset="0"/>
          <a:cs typeface="Archivo" charset="0"/>
        </a:defRPr>
      </a:lvl5pPr>
      <a:lvl6pPr marL="6705767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998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229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460" indent="-609615" algn="l" defTabSz="243846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3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6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91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922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15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38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613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844" algn="l" defTabSz="2438462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73114" y="2251651"/>
            <a:ext cx="8473480" cy="307468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242" y="0"/>
            <a:ext cx="901048" cy="189024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73114" y="5687748"/>
            <a:ext cx="8473480" cy="34881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150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7" r:id="rId1"/>
    <p:sldLayoutId id="2147484307" r:id="rId2"/>
    <p:sldLayoutId id="2147484204" r:id="rId3"/>
    <p:sldLayoutId id="2147484330" r:id="rId4"/>
    <p:sldLayoutId id="2147484331" r:id="rId5"/>
    <p:sldLayoutId id="2147484306" r:id="rId6"/>
    <p:sldLayoutId id="2147484332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7400" b="1" kern="1200" cap="all" baseline="0">
          <a:solidFill>
            <a:schemeClr val="tx1"/>
          </a:solidFill>
          <a:latin typeface="Franklin Gothic Demi" panose="020B0703020102020204" pitchFamily="34" charset="0"/>
          <a:ea typeface="Franklin Gothic Demi" panose="020B0703020102020204" pitchFamily="34" charset="0"/>
          <a:cs typeface="Franklin Gothic Demi" panose="020B070302010202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1pPr>
      <a:lvl2pPr marL="9144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2pPr>
      <a:lvl3pPr marL="13716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3pPr>
      <a:lvl4pPr marL="18288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4pPr>
      <a:lvl5pPr marL="2286000" indent="-4572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SzPct val="120000"/>
        <a:buFont typeface="Wingdings" charset="2"/>
        <a:buChar char="§"/>
        <a:defRPr sz="2800" kern="1200">
          <a:solidFill>
            <a:schemeClr val="tx1"/>
          </a:solidFill>
          <a:latin typeface="Franklin Gothic Book" panose="020B0503020102020204" pitchFamily="34" charset="0"/>
          <a:ea typeface="Franklin Gothic Book" panose="020B0503020102020204" pitchFamily="34" charset="0"/>
          <a:cs typeface="Franklin Gothic Book" panose="020B05030201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2788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2788" cy="8704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49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300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chivo Black" charset="0"/>
          <a:ea typeface="Archivo Black" charset="0"/>
          <a:cs typeface="Archiv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Franklin Gothic Book Regular"/>
          <a:ea typeface="Franklin Gothic Book Regular"/>
          <a:cs typeface="Franklin Gothic Book Regular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3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10" Type="http://schemas.openxmlformats.org/officeDocument/2006/relationships/image" Target="../media/image26.jpeg"/><Relationship Id="rId4" Type="http://schemas.openxmlformats.org/officeDocument/2006/relationships/hyperlink" Target="https://github.com/bknopp71/CS5040" TargetMode="External"/><Relationship Id="rId9" Type="http://schemas.openxmlformats.org/officeDocument/2006/relationships/image" Target="../media/image2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13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jpeg"/><Relationship Id="rId5" Type="http://schemas.openxmlformats.org/officeDocument/2006/relationships/image" Target="../media/image22.jpeg"/><Relationship Id="rId4" Type="http://schemas.openxmlformats.org/officeDocument/2006/relationships/hyperlink" Target="https://github.com/bknopp71/CS504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2.xml"/><Relationship Id="rId5" Type="http://schemas.openxmlformats.org/officeDocument/2006/relationships/image" Target="../media/image38.png"/><Relationship Id="rId10" Type="http://schemas.openxmlformats.org/officeDocument/2006/relationships/image" Target="../media/image32.png"/><Relationship Id="rId4" Type="http://schemas.openxmlformats.org/officeDocument/2006/relationships/customXml" Target="../ink/ink1.xml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13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customXml" Target="../ink/ink5.xml"/><Relationship Id="rId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customXml" Target="../ink/ink4.xml"/><Relationship Id="rId9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6D13-784C-8F45-8B57-749D812F7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5958" y="3386567"/>
            <a:ext cx="10297144" cy="2693045"/>
          </a:xfrm>
        </p:spPr>
        <p:txBody>
          <a:bodyPr/>
          <a:lstStyle/>
          <a:p>
            <a:pPr algn="ctr"/>
            <a:r>
              <a:rPr lang="en-US"/>
              <a:t>Silver Image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0B5AD-07E5-8D4E-A75A-4F63F023E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112389" y="7103309"/>
            <a:ext cx="12472559" cy="1194809"/>
          </a:xfrm>
        </p:spPr>
        <p:txBody>
          <a:bodyPr lIns="91440" tIns="45720" rIns="91440" bIns="45720" anchor="t"/>
          <a:lstStyle/>
          <a:p>
            <a:r>
              <a:rPr lang="en-US" sz="4500"/>
              <a:t>CNNs vs. Vision Transformers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3682A-0C24-CAE1-4545-A7A5DCD8A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2476" y="8635439"/>
            <a:ext cx="7480911" cy="439577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2B2558-5D58-CC2D-A02B-89228C1EFE1B}"/>
              </a:ext>
            </a:extLst>
          </p:cNvPr>
          <p:cNvSpPr/>
          <p:nvPr/>
        </p:nvSpPr>
        <p:spPr>
          <a:xfrm>
            <a:off x="913179" y="9754670"/>
            <a:ext cx="8164617" cy="13995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2EF780-A8E6-F2D4-C075-33A6EC7C1951}"/>
              </a:ext>
            </a:extLst>
          </p:cNvPr>
          <p:cNvSpPr txBox="1"/>
          <p:nvPr/>
        </p:nvSpPr>
        <p:spPr>
          <a:xfrm>
            <a:off x="1178659" y="9740409"/>
            <a:ext cx="12195312" cy="21852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Brent Knopp, Lacey Bowden,</a:t>
            </a:r>
          </a:p>
          <a:p>
            <a:r>
              <a:rPr lang="en-US" sz="4400" b="1">
                <a:solidFill>
                  <a:srgbClr val="FFFFFF"/>
                </a:solidFill>
              </a:rPr>
              <a:t>Josh Gillium, and Sebastian Vera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41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E764-A10B-F653-60DF-604A7FA4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989" y="2654247"/>
            <a:ext cx="21032788" cy="1218282"/>
          </a:xfrm>
        </p:spPr>
        <p:txBody>
          <a:bodyPr/>
          <a:lstStyle/>
          <a:p>
            <a:r>
              <a:rPr lang="en-US">
                <a:latin typeface="Franklin Gothic Demi"/>
              </a:rPr>
              <a:t>Contents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C0DAF-6215-A343-2A92-13C07FCD8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F6B347-4E7D-F2A6-7180-0FF2AAE4D8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16760" y="5227987"/>
            <a:ext cx="15986025" cy="6608732"/>
          </a:xfrm>
        </p:spPr>
        <p:txBody>
          <a:bodyPr vert="horz" lIns="0" tIns="0" rIns="0" bIns="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Background/Motivation</a:t>
            </a:r>
            <a:endParaRPr lang="en-US"/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  <a:cs typeface="Arial"/>
              </a:rPr>
              <a:t>Data Collection</a:t>
            </a: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  <a:cs typeface="Arial"/>
              </a:rPr>
              <a:t>Image Dataset </a:t>
            </a:r>
            <a:endParaRPr lang="en-US">
              <a:cs typeface="Arial"/>
            </a:endParaRP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Machine Learning Models</a:t>
            </a: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Comparison Results</a:t>
            </a: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Project Future Work</a:t>
            </a:r>
          </a:p>
          <a:p>
            <a:pPr marL="514350" indent="-514350">
              <a:buAutoNum type="arabicPeriod"/>
            </a:pPr>
            <a:r>
              <a:rPr lang="en-US">
                <a:latin typeface="Franklin Gothic Book"/>
              </a:rPr>
              <a:t>Q&amp;A</a:t>
            </a:r>
            <a:endParaRPr lang="en-US"/>
          </a:p>
        </p:txBody>
      </p:sp>
      <p:pic>
        <p:nvPicPr>
          <p:cNvPr id="2050" name="Picture 2" descr="My first time really underground — The Lucky Friday Mine ...">
            <a:extLst>
              <a:ext uri="{FF2B5EF4-FFF2-40B4-BE49-F238E27FC236}">
                <a16:creationId xmlns:a16="http://schemas.microsoft.com/office/drawing/2014/main" id="{036C1AC5-DF1A-BEA0-7723-6FD102D0A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3043" y="7521274"/>
            <a:ext cx="8266461" cy="619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34257C-9201-D2AE-78DB-D26D1F1D5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50309" y="2272346"/>
            <a:ext cx="8199195" cy="480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8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1C336-CDD5-93A0-6097-18483F9C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211" y="5217327"/>
            <a:ext cx="19005935" cy="1800493"/>
          </a:xfrm>
        </p:spPr>
        <p:txBody>
          <a:bodyPr/>
          <a:lstStyle/>
          <a:p>
            <a:r>
              <a:rPr lang="en-US">
                <a:latin typeface="Franklin Gothic Demi"/>
              </a:rPr>
              <a:t>Background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E2DCB-F49E-F02A-3549-C3FD1F0559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6130B-3BB2-FE8C-86C2-70E8672A5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C79F1-3CAC-7850-1D7F-F8A51984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344D0-6450-BA05-0FBF-DC63FAE6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407" y="1026456"/>
            <a:ext cx="22016461" cy="1654418"/>
          </a:xfrm>
        </p:spPr>
        <p:txBody>
          <a:bodyPr>
            <a:normAutofit fontScale="90000"/>
          </a:bodyPr>
          <a:lstStyle/>
          <a:p>
            <a:r>
              <a:rPr lang="en-US" sz="8900"/>
              <a:t>Background</a:t>
            </a:r>
            <a:br>
              <a:rPr lang="en-US" sz="6400"/>
            </a:br>
            <a:endParaRPr lang="en-US" sz="6400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2514B812-060C-73DA-610D-A16AD8DE9CA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4FC56F93-3C78-99E4-CCA0-5FBAF714E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B2E3BC-5F09-49A0-0908-AF875CC5E05E}"/>
              </a:ext>
            </a:extLst>
          </p:cNvPr>
          <p:cNvSpPr txBox="1"/>
          <p:nvPr/>
        </p:nvSpPr>
        <p:spPr>
          <a:xfrm>
            <a:off x="2418536" y="5054266"/>
            <a:ext cx="15170073" cy="1021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>
                <a:latin typeface="Franklin Gothic Book" panose="020B0503020102020204" pitchFamily="34" charset="0"/>
              </a:rPr>
              <a:t>Traditional Mineral Identification</a:t>
            </a:r>
          </a:p>
          <a:p>
            <a:endParaRPr lang="en-US" sz="3300" b="1">
              <a:latin typeface="Franklin Gothic Book" panose="020B05030201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Manual inspection by geologists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Laboratory analysis (X-ray Fluorescence , chemical assays)</a:t>
            </a:r>
          </a:p>
          <a:p>
            <a:endParaRPr lang="en-US" sz="3300">
              <a:latin typeface="Franklin Gothic Book" panose="020B05030201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Limitations: </a:t>
            </a:r>
          </a:p>
          <a:p>
            <a:endParaRPr lang="en-US" sz="3300">
              <a:latin typeface="Franklin Gothic Book" panose="020B0503020102020204" pitchFamily="34" charset="0"/>
            </a:endParaRPr>
          </a:p>
          <a:p>
            <a:pPr marL="1961997" lvl="1" indent="-742950">
              <a:buFont typeface="+mj-lt"/>
              <a:buAutoNum type="arabicPeriod"/>
            </a:pPr>
            <a:r>
              <a:rPr lang="en-US" sz="3300">
                <a:latin typeface="Franklin Gothic Book" panose="020B0503020102020204" pitchFamily="34" charset="0"/>
              </a:rPr>
              <a:t>Time-consuming </a:t>
            </a:r>
          </a:p>
          <a:p>
            <a:pPr marL="1961997" lvl="1" indent="-742950">
              <a:buFont typeface="+mj-lt"/>
              <a:buAutoNum type="arabicPeriod"/>
            </a:pPr>
            <a:r>
              <a:rPr lang="en-US" sz="3300">
                <a:latin typeface="Franklin Gothic Book" panose="020B0503020102020204" pitchFamily="34" charset="0"/>
              </a:rPr>
              <a:t>Expensive </a:t>
            </a:r>
          </a:p>
          <a:p>
            <a:pPr marL="1961997" lvl="1" indent="-742950">
              <a:buFont typeface="+mj-lt"/>
              <a:buAutoNum type="arabicPeriod"/>
            </a:pPr>
            <a:r>
              <a:rPr lang="en-US" sz="3300">
                <a:latin typeface="Franklin Gothic Book" panose="020B0503020102020204" pitchFamily="34" charset="0"/>
              </a:rPr>
              <a:t>Not real-time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807B80E-6C38-4FB7-90FF-88D9A08AA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4739" y="2825419"/>
            <a:ext cx="8160850" cy="1089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00EA83-7495-12D4-D6A3-E9D22F657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5063" y="-15114"/>
            <a:ext cx="7708738" cy="557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339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FDF917-46DC-3E49-B906-524AF237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6" y="1865074"/>
            <a:ext cx="21032788" cy="1218282"/>
          </a:xfrm>
        </p:spPr>
        <p:txBody>
          <a:bodyPr/>
          <a:lstStyle/>
          <a:p>
            <a:r>
              <a:rPr lang="en-US">
                <a:latin typeface="Franklin Gothic Demi"/>
              </a:rPr>
              <a:t>Motivation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0EF76-A1F3-59D9-4268-6A816642A7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38959" y="2390736"/>
            <a:ext cx="9662407" cy="501312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29D5C5-C4F4-30E6-1330-C7239E094C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73166" y="6280419"/>
            <a:ext cx="19786280" cy="6399188"/>
          </a:xfrm>
        </p:spPr>
        <p:txBody>
          <a:bodyPr vert="horz" wrap="square" lIns="0" tIns="0" rIns="0" bIns="0" numCol="2" spcCol="91440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US" dirty="0">
                <a:latin typeface="Franklin Gothic Book"/>
              </a:rPr>
              <a:t>Can machine vision be used to accurately detect </a:t>
            </a:r>
            <a:r>
              <a:rPr lang="en-US">
                <a:latin typeface="Franklin Gothic Book"/>
              </a:rPr>
              <a:t>instances of silver?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latin typeface="Franklin Gothic Book"/>
              </a:rPr>
              <a:t>Does a Convolutional Neural Network (CNN) or a Vision Transformer (</a:t>
            </a:r>
            <a:r>
              <a:rPr lang="en-US" dirty="0" err="1">
                <a:latin typeface="Franklin Gothic Book"/>
              </a:rPr>
              <a:t>ViT</a:t>
            </a:r>
            <a:r>
              <a:rPr lang="en-US" dirty="0">
                <a:latin typeface="Franklin Gothic Book"/>
              </a:rPr>
              <a:t>) perform better on a relatively small image set, where a majority of the non-silver class consists of minerals similar in look to silver?</a:t>
            </a: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pPr marL="457200" indent="-457200">
              <a:buAutoNum type="arabicPeriod"/>
            </a:pPr>
            <a:endParaRPr lang="en-US"/>
          </a:p>
          <a:p>
            <a:endParaRPr lang="en-US">
              <a:latin typeface="Franklin Gothic Book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58346D7-506A-D8DD-0E5E-46901C3220AD}"/>
              </a:ext>
            </a:extLst>
          </p:cNvPr>
          <p:cNvSpPr/>
          <p:nvPr/>
        </p:nvSpPr>
        <p:spPr>
          <a:xfrm>
            <a:off x="1573166" y="3581805"/>
            <a:ext cx="11345665" cy="1733944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200" i="1"/>
              <a:t>Build Complete Machine Vision </a:t>
            </a:r>
            <a:r>
              <a:rPr lang="en-US" sz="5200" i="1" err="1"/>
              <a:t>Pipline</a:t>
            </a:r>
            <a:r>
              <a:rPr lang="en-US" sz="5200" i="1"/>
              <a:t> To Create Real Time Silver Detection </a:t>
            </a:r>
          </a:p>
        </p:txBody>
      </p:sp>
      <p:pic>
        <p:nvPicPr>
          <p:cNvPr id="11266" name="Picture 2" descr="SILVER LINING | North Idaho Business Journal">
            <a:extLst>
              <a:ext uri="{FF2B5EF4-FFF2-40B4-BE49-F238E27FC236}">
                <a16:creationId xmlns:a16="http://schemas.microsoft.com/office/drawing/2014/main" id="{87BDC941-01A2-E9A9-E1C8-844EC6BAB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0123" y="6708718"/>
            <a:ext cx="10505465" cy="700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Machine Learning Models">
            <a:extLst>
              <a:ext uri="{FF2B5EF4-FFF2-40B4-BE49-F238E27FC236}">
                <a16:creationId xmlns:a16="http://schemas.microsoft.com/office/drawing/2014/main" id="{6A2F6AEC-2046-A848-AEAA-C82927A0F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60151" y="3098808"/>
            <a:ext cx="6457585" cy="338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483287-BED5-2439-2EA1-DC837BED4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87007" y="1386476"/>
            <a:ext cx="3803860" cy="306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75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668B0-9C7A-23D6-63F6-DF99D560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Demi"/>
              </a:rPr>
              <a:t>Data Collection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F36CC-F281-8759-6A49-32F03ABB4A8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1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7262-9ABD-169B-6CFC-46BEBC879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Demi"/>
              </a:rPr>
              <a:t>Data Collection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79F26-F953-C13F-A160-546513B41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2454" y="4482530"/>
            <a:ext cx="21032788" cy="4608185"/>
          </a:xfrm>
        </p:spPr>
        <p:txBody>
          <a:bodyPr vert="horz" lIns="0" tIns="0" rIns="0" bIns="0" rtlCol="0" anchor="t">
            <a:spAutoFit/>
          </a:bodyPr>
          <a:lstStyle/>
          <a:p>
            <a:r>
              <a:rPr lang="en-US">
                <a:latin typeface="Franklin Gothic Book"/>
              </a:rPr>
              <a:t>Python script downloaded Silver images from </a:t>
            </a:r>
            <a:r>
              <a:rPr lang="en-US" err="1">
                <a:latin typeface="Franklin Gothic Book"/>
              </a:rPr>
              <a:t>Github</a:t>
            </a:r>
            <a:endParaRPr lang="en-US">
              <a:latin typeface="Franklin Gothic Book"/>
            </a:endParaRPr>
          </a:p>
          <a:p>
            <a:r>
              <a:rPr lang="en-US">
                <a:latin typeface="Franklin Gothic Book"/>
              </a:rPr>
              <a:t>Dataset stored in a GitHub repository with linked cloud storage (Google Drive)</a:t>
            </a:r>
          </a:p>
          <a:p>
            <a:pPr lvl="1">
              <a:buFont typeface="Courier New" charset="2"/>
              <a:buChar char="o"/>
            </a:pPr>
            <a:r>
              <a:rPr lang="en-US">
                <a:latin typeface="Franklin Gothic Book"/>
              </a:rPr>
              <a:t>CSV</a:t>
            </a:r>
          </a:p>
          <a:p>
            <a:r>
              <a:rPr lang="en-US">
                <a:latin typeface="Franklin Gothic Book"/>
              </a:rPr>
              <a:t>Silver &amp; Non-Silver Classes</a:t>
            </a: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BDA42-C2CC-287A-CA96-12E568B16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CA8BC-AECA-4908-A321-3A4888C7C31D}" type="datetime1">
              <a:t>5/7/2026</a:t>
            </a:fld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250A74-6438-D360-CED8-309896701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832" y="7254528"/>
            <a:ext cx="12043711" cy="537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70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5AC25-9202-B43D-D866-F9BB2EF6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Franklin Gothic Demi"/>
              </a:rPr>
              <a:t>Data Preparation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5B55A-2435-BB16-30AD-550402C2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27" y="5840958"/>
            <a:ext cx="21032788" cy="8609280"/>
          </a:xfrm>
        </p:spPr>
        <p:txBody>
          <a:bodyPr vert="horz" lIns="0" tIns="0" rIns="0" bIns="0" rtlCol="0" anchor="t">
            <a:spAutoFit/>
          </a:bodyPr>
          <a:lstStyle/>
          <a:p>
            <a:r>
              <a:rPr lang="en-US">
                <a:latin typeface="Times"/>
                <a:cs typeface="Times"/>
              </a:rPr>
              <a:t>Silver class must contain only correct and valid mineral images</a:t>
            </a:r>
            <a:endParaRPr lang="en-US">
              <a:latin typeface="Franklin Gothic Book"/>
            </a:endParaRPr>
          </a:p>
          <a:p>
            <a:r>
              <a:rPr lang="en-US">
                <a:latin typeface="Franklin Gothic Book"/>
              </a:rPr>
              <a:t>Corrupted images removed from dataset</a:t>
            </a:r>
            <a:endParaRPr lang="en-US"/>
          </a:p>
          <a:p>
            <a:pPr lvl="1">
              <a:buFont typeface="Courier New" charset="2"/>
              <a:buChar char="o"/>
            </a:pPr>
            <a:r>
              <a:rPr lang="en-US">
                <a:latin typeface="Franklin Gothic Book"/>
              </a:rPr>
              <a:t>Using metadata "drop" identifier</a:t>
            </a:r>
            <a:endParaRPr lang="en-US"/>
          </a:p>
          <a:p>
            <a:r>
              <a:rPr lang="en-US">
                <a:latin typeface="Franklin Gothic Book"/>
              </a:rPr>
              <a:t>Data </a:t>
            </a:r>
            <a:r>
              <a:rPr lang="en-US" err="1">
                <a:latin typeface="Franklin Gothic Book"/>
              </a:rPr>
              <a:t>Formating</a:t>
            </a:r>
            <a:endParaRPr lang="en-US" err="1"/>
          </a:p>
          <a:p>
            <a:pPr lvl="1">
              <a:buFont typeface="Courier New" charset="2"/>
              <a:buChar char="o"/>
            </a:pPr>
            <a:r>
              <a:rPr lang="en-US">
                <a:latin typeface="Franklin Gothic Book"/>
              </a:rPr>
              <a:t>Stored as 4-Dimensional Tensor for </a:t>
            </a:r>
            <a:r>
              <a:rPr lang="en-US" err="1">
                <a:latin typeface="Franklin Gothic Book"/>
              </a:rPr>
              <a:t>Keras</a:t>
            </a:r>
            <a:r>
              <a:rPr lang="en-US">
                <a:latin typeface="Franklin Gothic Book"/>
              </a:rPr>
              <a:t> training</a:t>
            </a:r>
            <a:endParaRPr lang="en-US"/>
          </a:p>
          <a:p>
            <a:endParaRPr lang="en-US"/>
          </a:p>
          <a:p>
            <a:pPr lvl="1">
              <a:buFont typeface="Courier New" charset="2"/>
              <a:buChar char="o"/>
            </a:pPr>
            <a:endParaRPr lang="en-US"/>
          </a:p>
          <a:p>
            <a:pPr marL="342900" lvl="1" indent="0">
              <a:buNone/>
            </a:pP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79000-CA3A-A9DE-8A0C-8D0CC17F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CC307-0067-40C1-BB06-D646151FF706}" type="datetime1">
              <a:t>5/7/2026</a:t>
            </a:fld>
            <a:endParaRPr lang="en-US"/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B8181B0-A732-CFC3-E536-B2FB4EBBC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8443" y="2525195"/>
            <a:ext cx="11680729" cy="709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6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1BCC-FD45-052C-BA8D-4FA396B64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804A54-0655-AF25-B85B-409AFB8D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1709" y="4986293"/>
            <a:ext cx="19005935" cy="1800493"/>
          </a:xfrm>
        </p:spPr>
        <p:txBody>
          <a:bodyPr/>
          <a:lstStyle/>
          <a:p>
            <a:r>
              <a:rPr lang="en-US">
                <a:latin typeface="Franklin Gothic Demi"/>
              </a:rPr>
              <a:t>Image dataset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317A7-6F5D-C0AA-E87E-F7DF978E02E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EC0288-E9BC-44A2-FB15-F3B8A8F5A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59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8CAD5-7B01-F3EA-1533-75F00A93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A4514-B1A6-5B76-D4B7-53C4E3F6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79" y="682005"/>
            <a:ext cx="21560148" cy="1654418"/>
          </a:xfrm>
        </p:spPr>
        <p:txBody>
          <a:bodyPr>
            <a:normAutofit fontScale="90000"/>
          </a:bodyPr>
          <a:lstStyle/>
          <a:p>
            <a:r>
              <a:rPr lang="en-US" sz="7200"/>
              <a:t>Image dataset: Retrieval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B574C3E3-6E39-AF18-1D02-D152D411EB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1F6322B9-CDF7-A6D6-41E1-AD9AADF6E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87DA9B-7244-65D1-1446-F102CC3DC790}"/>
              </a:ext>
            </a:extLst>
          </p:cNvPr>
          <p:cNvSpPr txBox="1"/>
          <p:nvPr/>
        </p:nvSpPr>
        <p:spPr>
          <a:xfrm>
            <a:off x="1658418" y="1509214"/>
            <a:ext cx="9978259" cy="127419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9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300" err="1">
                <a:latin typeface="Franklin Gothic Book"/>
              </a:rPr>
              <a:t>Binary</a:t>
            </a:r>
            <a:r>
              <a:rPr lang="it-IT" sz="3300">
                <a:latin typeface="Franklin Gothic Book"/>
              </a:rPr>
              <a:t> </a:t>
            </a:r>
            <a:r>
              <a:rPr lang="it-IT" sz="3300" err="1">
                <a:latin typeface="Franklin Gothic Book"/>
              </a:rPr>
              <a:t>classification</a:t>
            </a:r>
            <a:r>
              <a:rPr lang="it-IT" sz="3300">
                <a:latin typeface="Franklin Gothic Book"/>
              </a:rPr>
              <a:t> dataset:</a:t>
            </a:r>
          </a:p>
          <a:p>
            <a:endParaRPr lang="it-IT" sz="3600">
              <a:latin typeface="Franklin Gothic Book" panose="020B0503020102020204" pitchFamily="34" charset="0"/>
            </a:endParaRPr>
          </a:p>
          <a:p>
            <a:pPr marL="1790547" lvl="1" indent="-571500">
              <a:buFont typeface="Arial" panose="020B0604020202020204" pitchFamily="34" charset="0"/>
              <a:buChar char="•"/>
            </a:pPr>
            <a:r>
              <a:rPr lang="it-IT" sz="3300" b="1">
                <a:latin typeface="Franklin Gothic Book" panose="020B0503020102020204" pitchFamily="34" charset="0"/>
              </a:rPr>
              <a:t>Silver</a:t>
            </a:r>
            <a:r>
              <a:rPr lang="it-IT" sz="3300">
                <a:latin typeface="Franklin Gothic Book" panose="020B0503020102020204" pitchFamily="34" charset="0"/>
              </a:rPr>
              <a:t> </a:t>
            </a:r>
          </a:p>
          <a:p>
            <a:pPr marL="1790547" lvl="1" indent="-571500">
              <a:buFont typeface="Arial" panose="020B0604020202020204" pitchFamily="34" charset="0"/>
              <a:buChar char="•"/>
            </a:pPr>
            <a:r>
              <a:rPr lang="it-IT" sz="3300" b="1">
                <a:latin typeface="Franklin Gothic Book" panose="020B0503020102020204" pitchFamily="34" charset="0"/>
              </a:rPr>
              <a:t>Non-silver</a:t>
            </a:r>
            <a:endParaRPr lang="it-IT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JPEG images from </a:t>
            </a:r>
            <a:r>
              <a:rPr lang="en-US" sz="3300" err="1">
                <a:latin typeface="Franklin Gothic Book" panose="020B0503020102020204" pitchFamily="34" charset="0"/>
              </a:rPr>
              <a:t>Mindat</a:t>
            </a:r>
            <a:r>
              <a:rPr lang="en-US" sz="3300">
                <a:latin typeface="Franklin Gothic Book" panose="020B0503020102020204" pitchFamily="34" charset="0"/>
              </a:rPr>
              <a:t> database</a:t>
            </a:r>
          </a:p>
          <a:p>
            <a:endParaRPr lang="en-US" sz="3300">
              <a:latin typeface="Franklin Gothic Book" panose="020B0503020102020204" pitchFamily="34" charset="0"/>
            </a:endParaRP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Used automated Python scripts for image retrieval</a:t>
            </a:r>
          </a:p>
          <a:p>
            <a:pPr lvl="1"/>
            <a:endParaRPr lang="en-US" sz="3300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Original dataset size 	</a:t>
            </a:r>
          </a:p>
          <a:p>
            <a:r>
              <a:rPr lang="en-US" sz="3300">
                <a:latin typeface="Franklin Gothic Book" panose="020B0503020102020204" pitchFamily="34" charset="0"/>
              </a:rPr>
              <a:t>	     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   Total images = </a:t>
            </a:r>
            <a:r>
              <a:rPr lang="en-US" sz="3300" b="1">
                <a:latin typeface="Franklin Gothic Book" panose="020B0503020102020204" pitchFamily="34" charset="0"/>
              </a:rPr>
              <a:t>20,564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   Silver images = </a:t>
            </a:r>
            <a:r>
              <a:rPr lang="en-US" sz="3300" b="1">
                <a:latin typeface="Franklin Gothic Book" panose="020B0503020102020204" pitchFamily="34" charset="0"/>
              </a:rPr>
              <a:t>3,869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   Non-silver images = </a:t>
            </a:r>
            <a:r>
              <a:rPr lang="en-US" sz="3300" b="1">
                <a:latin typeface="Franklin Gothic Book" panose="020B0503020102020204" pitchFamily="34" charset="0"/>
              </a:rPr>
              <a:t>16,695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endParaRPr lang="en-US" sz="3300">
              <a:latin typeface="Franklin Gothic Book" panose="020B0503020102020204" pitchFamily="34" charset="0"/>
            </a:endParaRPr>
          </a:p>
          <a:p>
            <a:r>
              <a:rPr lang="en-US" sz="3300">
                <a:latin typeface="Franklin Gothic Book" panose="020B0503020102020204" pitchFamily="34" charset="0"/>
                <a:hlinkClick r:id="rId4"/>
              </a:rPr>
              <a:t>     </a:t>
            </a:r>
            <a:endParaRPr lang="en-US" sz="3300">
              <a:latin typeface="Franklin Gothic Book" panose="020B0503020102020204" pitchFamily="34" charset="0"/>
            </a:endParaRPr>
          </a:p>
          <a:p>
            <a:endParaRPr lang="en-US" sz="3300">
              <a:latin typeface="Franklin Gothic Book" panose="020B0503020102020204" pitchFamily="34" charset="0"/>
            </a:endParaRPr>
          </a:p>
          <a:p>
            <a:endParaRPr lang="en-US" sz="9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50EB6-5B44-FF12-DA2E-684D375620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787" y="2938173"/>
            <a:ext cx="4174246" cy="41918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AA721A-9050-8770-39C6-B599593FA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8083" y="2955737"/>
            <a:ext cx="4174246" cy="41742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9D40B6-40D9-5A6C-2EAD-3EFCC09DF9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2329" y="2955737"/>
            <a:ext cx="3845815" cy="41742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A195E9-5C3A-9C7F-F194-6D21EE8A9D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489" y="7129982"/>
            <a:ext cx="4201840" cy="45784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BF8FA8-BAFB-E859-FC8F-B9BD49E1F7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9923" y="7129981"/>
            <a:ext cx="3818222" cy="45784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F353CE-A23A-E77F-7A9F-6FA907A09D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6777" y="7129981"/>
            <a:ext cx="3959670" cy="462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457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7AB2F-EC2C-4DCC-60F5-E80F5949A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33E68-2BC3-BAE8-F00A-18C8DA90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79" y="682005"/>
            <a:ext cx="21560148" cy="1654418"/>
          </a:xfrm>
        </p:spPr>
        <p:txBody>
          <a:bodyPr>
            <a:normAutofit fontScale="90000"/>
          </a:bodyPr>
          <a:lstStyle/>
          <a:p>
            <a:r>
              <a:rPr lang="en-US" sz="7200"/>
              <a:t>Image dataset: Composition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CB8C7E92-55B7-049B-F0AE-9100B4DCCA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ACDD2BC2-4447-2CE5-236E-45B9FF564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C80A49-F24B-DBDC-6A96-9E8D7647CCCB}"/>
              </a:ext>
            </a:extLst>
          </p:cNvPr>
          <p:cNvSpPr txBox="1"/>
          <p:nvPr/>
        </p:nvSpPr>
        <p:spPr>
          <a:xfrm>
            <a:off x="1000533" y="1509214"/>
            <a:ext cx="11501237" cy="72019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96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/>
              </a:rPr>
              <a:t>Silver class </a:t>
            </a:r>
            <a:r>
              <a:rPr lang="it-IT" sz="3300" err="1">
                <a:latin typeface="Franklin Gothic Book"/>
              </a:rPr>
              <a:t>has</a:t>
            </a:r>
            <a:r>
              <a:rPr lang="it-IT" sz="3300">
                <a:latin typeface="Franklin Gothic Book"/>
              </a:rPr>
              <a:t> </a:t>
            </a:r>
            <a:r>
              <a:rPr lang="it-IT" sz="3300" b="1">
                <a:latin typeface="Franklin Gothic Book"/>
              </a:rPr>
              <a:t>10</a:t>
            </a:r>
            <a:r>
              <a:rPr lang="it-IT" sz="3300">
                <a:latin typeface="Franklin Gothic Book"/>
              </a:rPr>
              <a:t> silver </a:t>
            </a:r>
            <a:r>
              <a:rPr lang="it-IT" sz="3300" err="1">
                <a:latin typeface="Franklin Gothic Book"/>
              </a:rPr>
              <a:t>bearing</a:t>
            </a:r>
            <a:r>
              <a:rPr lang="it-IT" sz="3300">
                <a:latin typeface="Franklin Gothic Book"/>
              </a:rPr>
              <a:t> </a:t>
            </a:r>
            <a:r>
              <a:rPr lang="it-IT" sz="3300" err="1">
                <a:latin typeface="Franklin Gothic Book"/>
              </a:rPr>
              <a:t>minerals</a:t>
            </a:r>
            <a:endParaRPr lang="it-IT" sz="3300">
              <a:latin typeface="Franklin Gothic Book"/>
            </a:endParaRPr>
          </a:p>
          <a:p>
            <a:endParaRPr lang="it-IT" sz="3600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/>
              </a:rPr>
              <a:t>Non-silver class </a:t>
            </a:r>
            <a:r>
              <a:rPr lang="it-IT" sz="3300" err="1">
                <a:latin typeface="Franklin Gothic Book"/>
              </a:rPr>
              <a:t>has</a:t>
            </a:r>
            <a:r>
              <a:rPr lang="it-IT" sz="3300">
                <a:latin typeface="Franklin Gothic Book"/>
              </a:rPr>
              <a:t> hard </a:t>
            </a:r>
            <a:r>
              <a:rPr lang="it-IT" sz="3300" err="1">
                <a:latin typeface="Franklin Gothic Book"/>
              </a:rPr>
              <a:t>negatives</a:t>
            </a:r>
            <a:r>
              <a:rPr lang="it-IT" sz="3300">
                <a:latin typeface="Franklin Gothic Book"/>
              </a:rPr>
              <a:t> and soft </a:t>
            </a:r>
            <a:r>
              <a:rPr lang="it-IT" sz="3300" err="1">
                <a:latin typeface="Franklin Gothic Book"/>
              </a:rPr>
              <a:t>negatives</a:t>
            </a:r>
            <a:endParaRPr lang="it-IT" sz="3300">
              <a:latin typeface="Franklin Gothic Book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it-IT" sz="3300">
              <a:latin typeface="Franklin Gothic Book" panose="020B0503020102020204" pitchFamily="34" charset="0"/>
            </a:endParaRPr>
          </a:p>
          <a:p>
            <a:pPr marL="1790065" lvl="1" indent="-571500">
              <a:buFont typeface="Arial" panose="020B0604020202020204" pitchFamily="34" charset="0"/>
              <a:buChar char="•"/>
            </a:pPr>
            <a:r>
              <a:rPr lang="it-IT" sz="3300" b="1">
                <a:latin typeface="Franklin Gothic Book"/>
              </a:rPr>
              <a:t>8</a:t>
            </a:r>
            <a:r>
              <a:rPr lang="it-IT" sz="3300">
                <a:latin typeface="Franklin Gothic Book"/>
              </a:rPr>
              <a:t> hard </a:t>
            </a:r>
            <a:r>
              <a:rPr lang="it-IT" sz="3300" err="1">
                <a:latin typeface="Franklin Gothic Book"/>
              </a:rPr>
              <a:t>negatives</a:t>
            </a:r>
            <a:endParaRPr lang="it-IT" sz="3300">
              <a:latin typeface="Franklin Gothic Book"/>
            </a:endParaRPr>
          </a:p>
          <a:p>
            <a:pPr marL="1790065" lvl="1" indent="-5715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/>
              </a:rPr>
              <a:t>70% hard </a:t>
            </a:r>
            <a:r>
              <a:rPr lang="it-IT" sz="3300" err="1">
                <a:latin typeface="Franklin Gothic Book"/>
              </a:rPr>
              <a:t>negatives</a:t>
            </a:r>
            <a:endParaRPr lang="it-IT" sz="3300">
              <a:latin typeface="Franklin Gothic Book"/>
            </a:endParaRPr>
          </a:p>
          <a:p>
            <a:pPr marL="1790065" lvl="1" indent="-5715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/>
              </a:rPr>
              <a:t>30% soft </a:t>
            </a:r>
            <a:r>
              <a:rPr lang="it-IT" sz="3300" err="1">
                <a:latin typeface="Franklin Gothic Book"/>
              </a:rPr>
              <a:t>negatives</a:t>
            </a:r>
            <a:endParaRPr lang="it-IT" sz="3300">
              <a:latin typeface="Franklin Gothic Book"/>
            </a:endParaRPr>
          </a:p>
          <a:p>
            <a:endParaRPr lang="it-IT" sz="3300">
              <a:latin typeface="Franklin Gothic Book" panose="020B0503020102020204" pitchFamily="34" charset="0"/>
            </a:endParaRPr>
          </a:p>
          <a:p>
            <a:endParaRPr lang="en-US" sz="96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7318BBB-741D-7EB1-2B3E-4633173096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00238" y="2694145"/>
            <a:ext cx="6784799" cy="62992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2405E0-9A8C-57B3-3E17-1E77401AA6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6" y="7128381"/>
            <a:ext cx="6367217" cy="59072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DD6CA9-C3DD-C642-7986-213C7607BD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1756" y="7185535"/>
            <a:ext cx="7062076" cy="585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8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7CCD-76A6-A2E2-5B18-F21598B1D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B8C0-D35C-8D93-6A43-D92FC4FE2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347" y="791019"/>
            <a:ext cx="21560148" cy="1654418"/>
          </a:xfrm>
        </p:spPr>
        <p:txBody>
          <a:bodyPr>
            <a:normAutofit fontScale="90000"/>
          </a:bodyPr>
          <a:lstStyle/>
          <a:p>
            <a:r>
              <a:rPr lang="en-US" sz="7200"/>
              <a:t>Image dataset: filtering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C7E0F580-3E5E-A820-CD4F-4FA116C63A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F3CC3A18-2B81-55E7-DE85-6B13CB518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6FE92D-1131-C26E-76AB-290905C77657}"/>
              </a:ext>
            </a:extLst>
          </p:cNvPr>
          <p:cNvSpPr txBox="1"/>
          <p:nvPr/>
        </p:nvSpPr>
        <p:spPr>
          <a:xfrm>
            <a:off x="1119356" y="1764180"/>
            <a:ext cx="11501237" cy="1066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600"/>
          </a:p>
          <a:p>
            <a:endParaRPr lang="it-IT" sz="3300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 panose="020B0503020102020204" pitchFamily="34" charset="0"/>
              </a:rPr>
              <a:t>Datset performed poorly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endParaRPr lang="it-IT" sz="3300">
              <a:latin typeface="Franklin Gothic Book" panose="020B0503020102020204" pitchFamily="34" charset="0"/>
            </a:endParaRP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 panose="020B0503020102020204" pitchFamily="34" charset="0"/>
              </a:rPr>
              <a:t>Images of non-minerals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it-IT" sz="3300">
                <a:latin typeface="Franklin Gothic Book" panose="020B0503020102020204" pitchFamily="34" charset="0"/>
              </a:rPr>
              <a:t>Unbalanced dataset</a:t>
            </a:r>
          </a:p>
          <a:p>
            <a:pPr lvl="1"/>
            <a:endParaRPr lang="en-US" sz="3300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Cleaned and Balanced Silver Mineral Image Dataset</a:t>
            </a:r>
          </a:p>
          <a:p>
            <a:r>
              <a:rPr lang="en-US" sz="3300">
                <a:latin typeface="Franklin Gothic Book" panose="020B0503020102020204" pitchFamily="34" charset="0"/>
              </a:rPr>
              <a:t>	     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Total images = </a:t>
            </a:r>
            <a:r>
              <a:rPr lang="en-US" sz="3300" b="1">
                <a:latin typeface="Franklin Gothic Book" panose="020B0503020102020204" pitchFamily="34" charset="0"/>
              </a:rPr>
              <a:t>7.310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Silver images = </a:t>
            </a:r>
            <a:r>
              <a:rPr lang="en-US" sz="3300" b="1">
                <a:latin typeface="Franklin Gothic Book" panose="020B0503020102020204" pitchFamily="34" charset="0"/>
              </a:rPr>
              <a:t>3,655</a:t>
            </a:r>
          </a:p>
          <a:p>
            <a:pPr marL="1676247" lvl="1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  Non-silver images = </a:t>
            </a:r>
            <a:r>
              <a:rPr lang="en-US" sz="3300" b="1">
                <a:latin typeface="Franklin Gothic Book" panose="020B0503020102020204" pitchFamily="34" charset="0"/>
              </a:rPr>
              <a:t>3,655</a:t>
            </a:r>
          </a:p>
          <a:p>
            <a:pPr lvl="1"/>
            <a:endParaRPr lang="en-US" sz="3300" b="1">
              <a:latin typeface="Franklin Gothic Book" panose="020B05030201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Project Repository (GitHub)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  <a:hlinkClick r:id="rId4"/>
            </a:endParaRPr>
          </a:p>
          <a:p>
            <a:r>
              <a:rPr lang="en-US" sz="3300">
                <a:latin typeface="Franklin Gothic Book" panose="020B0503020102020204" pitchFamily="34" charset="0"/>
              </a:rPr>
              <a:t>    </a:t>
            </a:r>
            <a:r>
              <a:rPr lang="en-US" sz="3300">
                <a:latin typeface="Franklin Gothic Book" panose="020B0503020102020204" pitchFamily="34" charset="0"/>
                <a:hlinkClick r:id="rId4"/>
              </a:rPr>
              <a:t>https://github.com/bknopp71/CS5040</a:t>
            </a:r>
            <a:endParaRPr lang="en-US" sz="3300">
              <a:latin typeface="Franklin Gothic Book" panose="020B0503020102020204" pitchFamily="34" charset="0"/>
            </a:endParaRPr>
          </a:p>
          <a:p>
            <a:endParaRPr lang="en-US" sz="96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D1F6B5B-A345-8603-5FDB-21DF0E597B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2421" y="2336423"/>
            <a:ext cx="6218696" cy="57736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AC4EF1E-975B-C0D5-02AC-7771B7ECDA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2158" y="8426840"/>
            <a:ext cx="5705319" cy="486853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2B7B9B9-B05C-DFE1-226A-86DA662EC3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2421" y="8426841"/>
            <a:ext cx="6218697" cy="497495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356C1CE-2E29-904F-53E4-7DAC55F1B5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2157" y="2336424"/>
            <a:ext cx="5705319" cy="573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14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ADEA1-0EF8-A09B-D3C8-A4882CE0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E2A755-D869-91FD-C533-5972665EF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3211" y="5248105"/>
            <a:ext cx="19992204" cy="1769715"/>
          </a:xfrm>
        </p:spPr>
        <p:txBody>
          <a:bodyPr/>
          <a:lstStyle/>
          <a:p>
            <a:r>
              <a:rPr lang="en-US" sz="11500">
                <a:latin typeface="Franklin Gothic Demi"/>
              </a:rPr>
              <a:t>Machine learning models</a:t>
            </a:r>
            <a:endParaRPr lang="en-US" sz="115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FCAAB-B607-EFCE-A4B6-4CB9ED4BA76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4E7811-E34F-97ED-8E6B-0E1EA45CA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95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19983-C5DD-63DE-C9B4-4900AFBFA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968" y="784923"/>
            <a:ext cx="21032788" cy="2543999"/>
          </a:xfrm>
        </p:spPr>
        <p:txBody>
          <a:bodyPr/>
          <a:lstStyle/>
          <a:p>
            <a:r>
              <a:rPr lang="en-US">
                <a:latin typeface="Franklin Gothic Demi"/>
              </a:rPr>
              <a:t>Machine Learning Models</a:t>
            </a:r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D1D13468-0A72-4756-CA05-F80D1DA18D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4880146"/>
              </p:ext>
            </p:extLst>
          </p:nvPr>
        </p:nvGraphicFramePr>
        <p:xfrm>
          <a:off x="12271440" y="3054212"/>
          <a:ext cx="11021180" cy="946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869638D-CFE1-017B-340C-A260526830C1}"/>
              </a:ext>
            </a:extLst>
          </p:cNvPr>
          <p:cNvSpPr txBox="1"/>
          <p:nvPr/>
        </p:nvSpPr>
        <p:spPr>
          <a:xfrm>
            <a:off x="1163383" y="2112683"/>
            <a:ext cx="10988740" cy="97257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800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>
                <a:latin typeface="Franklin Gothic Book" panose="020B0503020102020204" pitchFamily="34" charset="0"/>
              </a:rPr>
              <a:t>Used a transfer learning framework with pretrained weights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700" dirty="0">
              <a:latin typeface="Franklin Gothic Book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>
                <a:latin typeface="Franklin Gothic Book"/>
              </a:rPr>
              <a:t>Initial hypothesis: CNN would do better </a:t>
            </a:r>
            <a:endParaRPr lang="en-US" sz="3700" dirty="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700" b="1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5 models trained</a:t>
            </a:r>
            <a:r>
              <a:rPr lang="en-US" sz="4000" dirty="0"/>
              <a:t> (3 CNNs, 2 </a:t>
            </a:r>
            <a:r>
              <a:rPr lang="en-US" sz="4000" dirty="0" err="1"/>
              <a:t>ViTs</a:t>
            </a:r>
            <a:r>
              <a:rPr lang="en-US" sz="4000" dirty="0"/>
              <a:t>)</a:t>
            </a:r>
            <a:endParaRPr lang="en-US" sz="3700" dirty="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700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b="1" dirty="0">
                <a:latin typeface="Franklin Gothic Book"/>
              </a:rPr>
              <a:t>CNNs:</a:t>
            </a:r>
            <a:r>
              <a:rPr lang="en-US" sz="3700" dirty="0">
                <a:latin typeface="Franklin Gothic Book"/>
              </a:rPr>
              <a:t> TensorFlow/</a:t>
            </a:r>
            <a:r>
              <a:rPr lang="en-US" sz="3700" dirty="0" err="1">
                <a:latin typeface="Franklin Gothic Book"/>
              </a:rPr>
              <a:t>Keras</a:t>
            </a:r>
            <a:r>
              <a:rPr lang="en-US" sz="3700" dirty="0">
                <a:latin typeface="Franklin Gothic Book"/>
              </a:rPr>
              <a:t> 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700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 b="1" dirty="0" err="1">
                <a:latin typeface="Franklin Gothic Book"/>
              </a:rPr>
              <a:t>ViTs</a:t>
            </a:r>
            <a:r>
              <a:rPr lang="en-US" sz="3700" b="1" dirty="0">
                <a:latin typeface="Franklin Gothic Book"/>
              </a:rPr>
              <a:t>:</a:t>
            </a:r>
            <a:r>
              <a:rPr lang="en-US" sz="3700" dirty="0">
                <a:latin typeface="Franklin Gothic Book"/>
              </a:rPr>
              <a:t> Hugging Face (</a:t>
            </a:r>
            <a:r>
              <a:rPr lang="en-US" sz="3700" dirty="0" err="1">
                <a:latin typeface="Franklin Gothic Book"/>
              </a:rPr>
              <a:t>PyTorch</a:t>
            </a:r>
            <a:r>
              <a:rPr lang="en-US" sz="3700" dirty="0">
                <a:latin typeface="Franklin Gothic Book"/>
              </a:rPr>
              <a:t>)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700">
              <a:latin typeface="Franklin Gothic Book" panose="020B05030201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700">
                <a:latin typeface="Franklin Gothic Book" panose="020B0503020102020204" pitchFamily="34" charset="0"/>
              </a:rPr>
              <a:t>All models implemented in Python 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44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772E-8CAE-1A64-F7CB-8DD0717E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0373B0-0590-9728-3B89-75B9966F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454" y="1195754"/>
            <a:ext cx="21032788" cy="1218282"/>
          </a:xfrm>
        </p:spPr>
        <p:txBody>
          <a:bodyPr/>
          <a:lstStyle/>
          <a:p>
            <a:r>
              <a:rPr lang="en-US" sz="8000">
                <a:latin typeface="Franklin Gothic Demi"/>
              </a:rPr>
              <a:t>Machine Learning Models: Pipeline</a:t>
            </a:r>
            <a:endParaRPr lang="en-US" sz="8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EE8976-C679-8773-9023-197F6DE17F02}"/>
              </a:ext>
            </a:extLst>
          </p:cNvPr>
          <p:cNvSpPr txBox="1"/>
          <p:nvPr/>
        </p:nvSpPr>
        <p:spPr>
          <a:xfrm>
            <a:off x="13181085" y="2906380"/>
            <a:ext cx="10811693" cy="6170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0"/>
          </a:p>
          <a:p>
            <a:r>
              <a:rPr lang="en-US" sz="3600" b="1"/>
              <a:t>Training Setup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CNNs: </a:t>
            </a:r>
            <a:r>
              <a:rPr lang="en-US" sz="3600" b="1"/>
              <a:t>freeze → fine-tune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err="1"/>
              <a:t>ViTs</a:t>
            </a:r>
            <a:r>
              <a:rPr lang="en-US" sz="3600"/>
              <a:t>: </a:t>
            </a:r>
            <a:r>
              <a:rPr lang="en-US" sz="3600" b="1"/>
              <a:t>full fine-</a:t>
            </a:r>
            <a:r>
              <a:rPr lang="en-US" sz="3600" b="1" err="1"/>
              <a:t>tunig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Optimizer: </a:t>
            </a:r>
            <a:r>
              <a:rPr lang="en-US" sz="3600" b="1" err="1"/>
              <a:t>AdamW</a:t>
            </a:r>
            <a:r>
              <a:rPr lang="en-US" sz="3600"/>
              <a:t> | Loss: </a:t>
            </a:r>
            <a:r>
              <a:rPr lang="en-US" sz="3600" b="1"/>
              <a:t>Cross-Entropy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Batch: </a:t>
            </a:r>
            <a:r>
              <a:rPr lang="en-US" sz="3600" b="1"/>
              <a:t>16–32</a:t>
            </a:r>
            <a:r>
              <a:rPr lang="en-US" sz="3600"/>
              <a:t> | Epochs: </a:t>
            </a:r>
            <a:r>
              <a:rPr lang="en-US" sz="3600" b="1"/>
              <a:t>10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1"/>
              <a:t>Early stopping</a:t>
            </a:r>
            <a:endParaRPr lang="en-US" sz="3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1E8FD-C473-CD1C-B029-55CBA7763FC9}"/>
              </a:ext>
            </a:extLst>
          </p:cNvPr>
          <p:cNvSpPr txBox="1"/>
          <p:nvPr/>
        </p:nvSpPr>
        <p:spPr>
          <a:xfrm>
            <a:off x="2077014" y="4163668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/>
              <a:t>Preprocessing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Resize: </a:t>
            </a:r>
            <a:r>
              <a:rPr lang="en-US" sz="3600" b="1"/>
              <a:t>224 × 224</a:t>
            </a:r>
            <a:r>
              <a:rPr lang="en-US" sz="360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Normalize (ImageNet / Hugging Face)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/>
              <a:t>Split: </a:t>
            </a:r>
            <a:r>
              <a:rPr lang="en-US" sz="3600" b="1"/>
              <a:t>70% train / 20% </a:t>
            </a:r>
            <a:r>
              <a:rPr lang="en-US" sz="3600" b="1" err="1"/>
              <a:t>val</a:t>
            </a:r>
            <a:r>
              <a:rPr lang="en-US" sz="3600" b="1"/>
              <a:t> / 10% test</a:t>
            </a: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309D9C-D8D7-F37C-AEF7-051C35B1170A}"/>
              </a:ext>
            </a:extLst>
          </p:cNvPr>
          <p:cNvSpPr txBox="1"/>
          <p:nvPr/>
        </p:nvSpPr>
        <p:spPr>
          <a:xfrm>
            <a:off x="2077014" y="8138483"/>
            <a:ext cx="128250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/>
              <a:t>Light Data Augmentation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/>
              <a:t>Training set only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3600" b="1"/>
              <a:t>Flip, rotation, zoom, contrast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b="1"/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3600" b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843A7B-1D6D-BA35-7D69-D46348DA0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8276" y="9569644"/>
            <a:ext cx="11597312" cy="414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52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A3CE-C5BD-7FE1-7A68-E130B0AB6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40E415-73BD-61BB-2F07-DA16C223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544" y="5360399"/>
            <a:ext cx="19992204" cy="1769715"/>
          </a:xfrm>
        </p:spPr>
        <p:txBody>
          <a:bodyPr/>
          <a:lstStyle/>
          <a:p>
            <a:pPr algn="ctr"/>
            <a:r>
              <a:rPr lang="en-US" sz="11500"/>
              <a:t>Model Results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160ED-8864-BE4D-72A4-EA7DDC78191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00660" y="1244509"/>
            <a:ext cx="14545616" cy="1107996"/>
          </a:xfrm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BEF65F-148A-A422-BEC7-5EC26FE26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24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9535-71AE-8877-1B55-1ED886A3A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7435-F924-99AC-2673-B2A8CC242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001" y="572729"/>
            <a:ext cx="21854747" cy="1654418"/>
          </a:xfrm>
        </p:spPr>
        <p:txBody>
          <a:bodyPr>
            <a:normAutofit fontScale="90000"/>
          </a:bodyPr>
          <a:lstStyle/>
          <a:p>
            <a:r>
              <a:rPr lang="en-US" sz="8300"/>
              <a:t>Model Results: F1-Score Comparison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F5710293-E50D-9A4D-1770-4931C59B6F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D837D6A0-3716-70A3-67B3-8EE7EFFDA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1F4843-9797-3170-8754-790E25250C9A}"/>
              </a:ext>
            </a:extLst>
          </p:cNvPr>
          <p:cNvSpPr txBox="1"/>
          <p:nvPr/>
        </p:nvSpPr>
        <p:spPr>
          <a:xfrm>
            <a:off x="880202" y="2829603"/>
            <a:ext cx="9648106" cy="1586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600"/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F1-score evaluated at decision threshold = 0.5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300" err="1">
                <a:latin typeface="Franklin Gothic Book" panose="020B0503020102020204" pitchFamily="34" charset="0"/>
              </a:rPr>
              <a:t>ViT</a:t>
            </a:r>
            <a:r>
              <a:rPr lang="en-US" sz="3300">
                <a:latin typeface="Franklin Gothic Book" panose="020B0503020102020204" pitchFamily="34" charset="0"/>
              </a:rPr>
              <a:t>-B/16 achieved highest F1-score (</a:t>
            </a:r>
            <a:r>
              <a:rPr lang="en-US" sz="3300" b="1">
                <a:latin typeface="Franklin Gothic Book" panose="020B0503020102020204" pitchFamily="34" charset="0"/>
              </a:rPr>
              <a:t>0.889</a:t>
            </a:r>
            <a:r>
              <a:rPr lang="en-US" sz="3300">
                <a:latin typeface="Franklin Gothic Book" panose="020B0503020102020204" pitchFamily="34" charset="0"/>
              </a:rPr>
              <a:t>)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Transformer models outperform CNNs at baseline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300">
                <a:latin typeface="Franklin Gothic Book" panose="020B0503020102020204" pitchFamily="34" charset="0"/>
              </a:rPr>
              <a:t>CNNs show consistent but slightly lower performance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8C382E6-0163-7D80-F548-0A31B4D2DBBA}"/>
                  </a:ext>
                </a:extLst>
              </p14:cNvPr>
              <p14:cNvContentPartPr/>
              <p14:nvPr/>
            </p14:nvContentPartPr>
            <p14:xfrm>
              <a:off x="2717973" y="5201728"/>
              <a:ext cx="72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8C382E6-0163-7D80-F548-0A31B4D2DB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9973" y="509372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4C4AAED-E0C6-F138-22E7-BD3E683F7324}"/>
                  </a:ext>
                </a:extLst>
              </p14:cNvPr>
              <p14:cNvContentPartPr/>
              <p14:nvPr/>
            </p14:nvContentPartPr>
            <p14:xfrm>
              <a:off x="3372496" y="6880157"/>
              <a:ext cx="72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4C4AAED-E0C6-F138-22E7-BD3E683F73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4496" y="6772157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F3BB78D-8678-BE3E-C4BC-A3B499DFDA93}"/>
                  </a:ext>
                </a:extLst>
              </p14:cNvPr>
              <p14:cNvContentPartPr/>
              <p14:nvPr/>
            </p14:nvContentPartPr>
            <p14:xfrm>
              <a:off x="-638165" y="2819093"/>
              <a:ext cx="72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F3BB78D-8678-BE3E-C4BC-A3B499DFDA9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56165" y="2711093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AB0F0A-68D0-B733-6B5F-67BB9D8C3045}"/>
              </a:ext>
            </a:extLst>
          </p:cNvPr>
          <p:cNvSpPr/>
          <p:nvPr/>
        </p:nvSpPr>
        <p:spPr>
          <a:xfrm>
            <a:off x="322852" y="9222513"/>
            <a:ext cx="11884320" cy="263658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err="1"/>
              <a:t>ViT</a:t>
            </a:r>
            <a:r>
              <a:rPr lang="en-US" sz="5400"/>
              <a:t>-B/16 achieved the highest F1-score at threshold 0.5</a:t>
            </a:r>
          </a:p>
        </p:txBody>
      </p:sp>
      <p:pic>
        <p:nvPicPr>
          <p:cNvPr id="4" name="Picture 3" descr="A graph of blue and red bars&#10;&#10;AI-generated content may be incorrect.">
            <a:extLst>
              <a:ext uri="{FF2B5EF4-FFF2-40B4-BE49-F238E27FC236}">
                <a16:creationId xmlns:a16="http://schemas.microsoft.com/office/drawing/2014/main" id="{86E7A86B-8D9F-ECBD-62EF-0FB78B54B6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39918" y="2991911"/>
            <a:ext cx="11534888" cy="735302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4701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F9B7-CA23-B4BD-34A2-E54CAF6B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7ADB-9B51-346F-056E-CAA741FF8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409" y="671795"/>
            <a:ext cx="21854747" cy="1654418"/>
          </a:xfrm>
        </p:spPr>
        <p:txBody>
          <a:bodyPr>
            <a:normAutofit fontScale="90000"/>
          </a:bodyPr>
          <a:lstStyle/>
          <a:p>
            <a:r>
              <a:rPr lang="en-US" sz="8300"/>
              <a:t>Model Results: Threshold optimization</a:t>
            </a:r>
            <a:br>
              <a:rPr lang="en-US"/>
            </a:br>
            <a:endParaRPr lang="en-US"/>
          </a:p>
        </p:txBody>
      </p:sp>
      <p:pic>
        <p:nvPicPr>
          <p:cNvPr id="2050" name="Picture 2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A4C55DD9-16F3-F515-A673-E0D314FE4C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4673" y="8157453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University of Idaho's new weed- killing robot is helping grow more trees to reforest public lands">
            <a:extLst>
              <a:ext uri="{FF2B5EF4-FFF2-40B4-BE49-F238E27FC236}">
                <a16:creationId xmlns:a16="http://schemas.microsoft.com/office/drawing/2014/main" id="{268660D1-FFED-35E5-379B-CA2327981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4692" y="6830219"/>
            <a:ext cx="76205" cy="5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56BF364-3AF6-F077-E365-55C228DCCCA7}"/>
              </a:ext>
            </a:extLst>
          </p:cNvPr>
          <p:cNvSpPr txBox="1"/>
          <p:nvPr/>
        </p:nvSpPr>
        <p:spPr>
          <a:xfrm>
            <a:off x="883911" y="2316784"/>
            <a:ext cx="11884320" cy="1512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5600"/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600"/>
              <a:t>Silver Recall evaluated using optimized decision thresholds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3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600"/>
              <a:t>Threshold tuning significantly improves model performance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6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600"/>
              <a:t>EfficientNet-B0 achieved highest recall (</a:t>
            </a:r>
            <a:r>
              <a:rPr lang="en-US" sz="3600" b="1"/>
              <a:t>0.918</a:t>
            </a:r>
            <a:r>
              <a:rPr lang="en-US" sz="3600"/>
              <a:t>) with a decision threshold tuning of </a:t>
            </a:r>
            <a:r>
              <a:rPr lang="en-US" sz="3600" b="1"/>
              <a:t>(0.22)</a:t>
            </a:r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3600">
              <a:latin typeface="Franklin Gothic Book" panose="020B0503020102020204" pitchFamily="34" charset="0"/>
            </a:endParaRPr>
          </a:p>
          <a:p>
            <a:pPr marL="571529" indent="-571529">
              <a:buFont typeface="Arial" panose="020B0604020202020204" pitchFamily="34" charset="0"/>
              <a:buChar char="•"/>
            </a:pPr>
            <a:r>
              <a:rPr lang="en-US" sz="3600"/>
              <a:t>CNNs outperform transformers in silver recall after threshold optimization</a:t>
            </a:r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  <a:p>
            <a:endParaRPr lang="en-US" sz="9600"/>
          </a:p>
          <a:p>
            <a:pPr marL="571529" indent="-571529">
              <a:buFont typeface="Arial" panose="020B0604020202020204" pitchFamily="34" charset="0"/>
              <a:buChar char="•"/>
            </a:pPr>
            <a:endParaRPr lang="en-US" sz="9600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D599E64-3359-1445-748D-222ABCD28312}"/>
                  </a:ext>
                </a:extLst>
              </p14:cNvPr>
              <p14:cNvContentPartPr/>
              <p14:nvPr/>
            </p14:nvContentPartPr>
            <p14:xfrm>
              <a:off x="2717973" y="5201728"/>
              <a:ext cx="72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D599E64-3359-1445-748D-222ABCD283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9973" y="5093728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94D7CE0-2A90-F088-83CB-0601174B3B73}"/>
                  </a:ext>
                </a:extLst>
              </p14:cNvPr>
              <p14:cNvContentPartPr/>
              <p14:nvPr/>
            </p14:nvContentPartPr>
            <p14:xfrm>
              <a:off x="3372496" y="6880157"/>
              <a:ext cx="72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94D7CE0-2A90-F088-83CB-0601174B3B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4496" y="6772157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80D76F-2C62-5633-EAF1-E1281829FC43}"/>
                  </a:ext>
                </a:extLst>
              </p14:cNvPr>
              <p14:cNvContentPartPr/>
              <p14:nvPr/>
            </p14:nvContentPartPr>
            <p14:xfrm>
              <a:off x="-638165" y="2819093"/>
              <a:ext cx="720" cy="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80D76F-2C62-5633-EAF1-E1281829FC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656165" y="2711093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C9924F-C01D-5D52-2C98-057631C661AE}"/>
              </a:ext>
            </a:extLst>
          </p:cNvPr>
          <p:cNvSpPr/>
          <p:nvPr/>
        </p:nvSpPr>
        <p:spPr>
          <a:xfrm>
            <a:off x="880206" y="9409313"/>
            <a:ext cx="11884319" cy="28721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/>
              <a:t>EfficientNet-B0 achieved the highest recall after threshold optimization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DF2D1-423A-98C5-4C9C-91BF41C80B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802715" y="2492009"/>
            <a:ext cx="8988305" cy="1055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28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58D6-58B9-0F4A-A663-4F8794E4F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80CE-333D-66BF-5AB6-463CF9630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456" y="5359752"/>
            <a:ext cx="18218024" cy="1800493"/>
          </a:xfrm>
        </p:spPr>
        <p:txBody>
          <a:bodyPr/>
          <a:lstStyle/>
          <a:p>
            <a:r>
              <a:rPr lang="en-US">
                <a:latin typeface="Franklin Gothic Demi"/>
              </a:rPr>
              <a:t>Future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F6A1-3657-A035-33D2-86FA448E51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CA795-2918-FF4A-7199-9D92D59F577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C6BAD-AAB3-6582-99B5-0CB75D97E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3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4685F-B0B8-52C7-F1BD-1FE618E7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4" name="Rectangle 6163">
            <a:extLst>
              <a:ext uri="{FF2B5EF4-FFF2-40B4-BE49-F238E27FC236}">
                <a16:creationId xmlns:a16="http://schemas.microsoft.com/office/drawing/2014/main" id="{910411C6-4B19-0661-A9D4-DF8CB677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48"/>
            <a:ext cx="24385588" cy="13716893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D9296-0E36-0ED4-141E-6EE5C14A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9267"/>
            <a:ext cx="17608061" cy="2695840"/>
          </a:xfrm>
        </p:spPr>
        <p:txBody>
          <a:bodyPr>
            <a:normAutofit/>
          </a:bodyPr>
          <a:lstStyle/>
          <a:p>
            <a:r>
              <a:rPr lang="en-US" sz="7200"/>
              <a:t>Future Work</a:t>
            </a:r>
          </a:p>
        </p:txBody>
      </p:sp>
      <p:cxnSp>
        <p:nvCxnSpPr>
          <p:cNvPr id="6165" name="Straight Connector 6164">
            <a:extLst>
              <a:ext uri="{FF2B5EF4-FFF2-40B4-BE49-F238E27FC236}">
                <a16:creationId xmlns:a16="http://schemas.microsoft.com/office/drawing/2014/main" id="{38D13F30-A3BC-679B-78AB-962615587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09449" y="1445194"/>
            <a:ext cx="3276813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8A30D-FEBB-7B97-C551-05B6E8B5C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9449" y="4504993"/>
            <a:ext cx="10392455" cy="5499910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/>
              <a:t>Expand and standardize dataset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/>
              <a:t>Explore multimodal and multi-sensor models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/>
              <a:t>Develop region-specific datasets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4000"/>
              <a:t>Optimize for real-time field deployment</a:t>
            </a:r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/>
          </a:p>
          <a:p>
            <a:endParaRPr 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E35D720E-EF2C-2676-9501-4D7240966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87976" y="6436404"/>
            <a:ext cx="609640" cy="60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82892" tIns="91446" rIns="182892" bIns="91446" numCol="1" anchor="t" anchorCtr="0" compatLnSpc="1">
            <a:prstTxWarp prst="textNoShape">
              <a:avLst/>
            </a:prstTxWarp>
          </a:bodyPr>
          <a:lstStyle/>
          <a:p>
            <a:endParaRPr lang="en-US" sz="96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2C10B4B-212F-2A28-269D-03220EA9B5FD}"/>
              </a:ext>
            </a:extLst>
          </p:cNvPr>
          <p:cNvSpPr/>
          <p:nvPr/>
        </p:nvSpPr>
        <p:spPr>
          <a:xfrm>
            <a:off x="1272550" y="10105842"/>
            <a:ext cx="14655135" cy="2406881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/>
              <a:t>Transformers lead in overall performance, while CNNs achieve higher recall after optimization</a:t>
            </a:r>
          </a:p>
        </p:txBody>
      </p:sp>
      <p:pic>
        <p:nvPicPr>
          <p:cNvPr id="6" name="Picture 5" descr="Electromagnetic spectrum diagram shows radio to gamma rays, wavelength scale, ...">
            <a:extLst>
              <a:ext uri="{FF2B5EF4-FFF2-40B4-BE49-F238E27FC236}">
                <a16:creationId xmlns:a16="http://schemas.microsoft.com/office/drawing/2014/main" id="{0D28EDF9-D777-5ABA-19B4-185CDCC8C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1629" y="597555"/>
            <a:ext cx="11797363" cy="885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6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EEFF3F-3108-749E-8CF9-F0C680F35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3362" y="5090558"/>
            <a:ext cx="18218024" cy="1800493"/>
          </a:xfrm>
        </p:spPr>
        <p:txBody>
          <a:bodyPr/>
          <a:lstStyle/>
          <a:p>
            <a:r>
              <a:rPr lang="en-US">
                <a:latin typeface="Franklin Gothic Demi"/>
              </a:rPr>
              <a:t>Q&amp;A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33A3FC-4B8A-775D-65D4-696834F2B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4677" y="9321816"/>
            <a:ext cx="7480911" cy="439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52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itle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8DE0A203-1390-2E4E-AF38-2A363377D7CB}"/>
    </a:ext>
  </a:extLst>
</a:theme>
</file>

<file path=ppt/theme/theme2.xml><?xml version="1.0" encoding="utf-8"?>
<a:theme xmlns:a="http://schemas.openxmlformats.org/drawingml/2006/main" name="Text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D13CB427-C636-6543-B47F-7D564BB45933}"/>
    </a:ext>
  </a:extLst>
</a:theme>
</file>

<file path=ppt/theme/theme3.xml><?xml version="1.0" encoding="utf-8"?>
<a:theme xmlns:a="http://schemas.openxmlformats.org/drawingml/2006/main" name="Section Intro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Другая 5">
      <a:majorFont>
        <a:latin typeface="Source Serif Pro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A542A538-0887-5A4B-91AF-67BC6C13041F}"/>
    </a:ext>
  </a:extLst>
</a:theme>
</file>

<file path=ppt/theme/theme4.xml><?xml version="1.0" encoding="utf-8"?>
<a:theme xmlns:a="http://schemas.openxmlformats.org/drawingml/2006/main" name="U of I Media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EEE225D5-A242-F847-9C44-101E734A2A8D}"/>
    </a:ext>
  </a:extLst>
</a:theme>
</file>

<file path=ppt/theme/theme5.xml><?xml version="1.0" encoding="utf-8"?>
<a:theme xmlns:a="http://schemas.openxmlformats.org/drawingml/2006/main" name="Closing Slides">
  <a:themeElements>
    <a:clrScheme name="Custom 1">
      <a:dk1>
        <a:srgbClr val="000000"/>
      </a:dk1>
      <a:lt1>
        <a:srgbClr val="FFFFFF"/>
      </a:lt1>
      <a:dk2>
        <a:srgbClr val="242529"/>
      </a:dk2>
      <a:lt2>
        <a:srgbClr val="FAFBFF"/>
      </a:lt2>
      <a:accent1>
        <a:srgbClr val="000000"/>
      </a:accent1>
      <a:accent2>
        <a:srgbClr val="808080"/>
      </a:accent2>
      <a:accent3>
        <a:srgbClr val="F1B300"/>
      </a:accent3>
      <a:accent4>
        <a:srgbClr val="F1B300"/>
      </a:accent4>
      <a:accent5>
        <a:srgbClr val="808080"/>
      </a:accent5>
      <a:accent6>
        <a:srgbClr val="000000"/>
      </a:accent6>
      <a:hlink>
        <a:srgbClr val="F1B300"/>
      </a:hlink>
      <a:folHlink>
        <a:srgbClr val="F1B3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F8544903-FD73-F041-8478-5E59E5E9D765}" vid="{4649CA44-DA3A-AB42-8095-5D2E989DF14D}"/>
    </a:ext>
  </a:extLst>
</a:theme>
</file>

<file path=ppt/theme/theme6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c0fcaa-dcd1-4403-acd8-feac69f8d28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D48A83AD74414C93268E9999446AA8" ma:contentTypeVersion="16" ma:contentTypeDescription="Create a new document." ma:contentTypeScope="" ma:versionID="bed79661c24d8b454b0542b79e920180">
  <xsd:schema xmlns:xsd="http://www.w3.org/2001/XMLSchema" xmlns:xs="http://www.w3.org/2001/XMLSchema" xmlns:p="http://schemas.microsoft.com/office/2006/metadata/properties" xmlns:ns3="78c0fcaa-dcd1-4403-acd8-feac69f8d28b" xmlns:ns4="691daa73-9315-4637-9859-fc741ab85a1f" targetNamespace="http://schemas.microsoft.com/office/2006/metadata/properties" ma:root="true" ma:fieldsID="613de13ece0c562523942123dd23ff01" ns3:_="" ns4:_="">
    <xsd:import namespace="78c0fcaa-dcd1-4403-acd8-feac69f8d28b"/>
    <xsd:import namespace="691daa73-9315-4637-9859-fc741ab85a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0fcaa-dcd1-4403-acd8-feac69f8d2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1daa73-9315-4637-9859-fc741ab85a1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A308F5-C820-4D06-B4A2-9E384A1E7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4DA4613-04E5-4A5E-8507-07B68DF28DE5}">
  <ds:schemaRefs>
    <ds:schemaRef ds:uri="691daa73-9315-4637-9859-fc741ab85a1f"/>
    <ds:schemaRef ds:uri="78c0fcaa-dcd1-4403-acd8-feac69f8d2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6BF71D8-ED6B-47DE-8EEA-442623B3DEA4}">
  <ds:schemaRefs>
    <ds:schemaRef ds:uri="691daa73-9315-4637-9859-fc741ab85a1f"/>
    <ds:schemaRef ds:uri="78c0fcaa-dcd1-4403-acd8-feac69f8d2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626</Words>
  <Application>Microsoft Office PowerPoint</Application>
  <PresentationFormat>Custom</PresentationFormat>
  <Paragraphs>183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8" baseType="lpstr">
      <vt:lpstr>Archivo</vt:lpstr>
      <vt:lpstr>Archivo Black</vt:lpstr>
      <vt:lpstr>Archivo Regular</vt:lpstr>
      <vt:lpstr>Arial</vt:lpstr>
      <vt:lpstr>Calibri</vt:lpstr>
      <vt:lpstr>Courier New</vt:lpstr>
      <vt:lpstr>Franklin Gothic Book</vt:lpstr>
      <vt:lpstr>Franklin Gothic Book Regular</vt:lpstr>
      <vt:lpstr>Franklin Gothic Demi</vt:lpstr>
      <vt:lpstr>Helvetica</vt:lpstr>
      <vt:lpstr>Times</vt:lpstr>
      <vt:lpstr>Wingdings</vt:lpstr>
      <vt:lpstr>Title Slides</vt:lpstr>
      <vt:lpstr>Text Slides</vt:lpstr>
      <vt:lpstr>Section Intro Slides</vt:lpstr>
      <vt:lpstr>U of I Media Slides</vt:lpstr>
      <vt:lpstr>Closing Slides</vt:lpstr>
      <vt:lpstr>Silver Image Detection</vt:lpstr>
      <vt:lpstr>Contents</vt:lpstr>
      <vt:lpstr>Background</vt:lpstr>
      <vt:lpstr>Background </vt:lpstr>
      <vt:lpstr>Motivation</vt:lpstr>
      <vt:lpstr>Data Collection</vt:lpstr>
      <vt:lpstr>Data Collection </vt:lpstr>
      <vt:lpstr>Data Preparation</vt:lpstr>
      <vt:lpstr>Image dataset</vt:lpstr>
      <vt:lpstr>Image dataset: Retrieval </vt:lpstr>
      <vt:lpstr>Image dataset: Composition </vt:lpstr>
      <vt:lpstr>Image dataset: filtering </vt:lpstr>
      <vt:lpstr>Machine learning models</vt:lpstr>
      <vt:lpstr>Machine Learning Models</vt:lpstr>
      <vt:lpstr>Machine Learning Models: Pipeline</vt:lpstr>
      <vt:lpstr>Model Results</vt:lpstr>
      <vt:lpstr>Model Results: F1-Score Comparison </vt:lpstr>
      <vt:lpstr>Model Results: Threshold optimization </vt:lpstr>
      <vt:lpstr>Future work</vt:lpstr>
      <vt:lpstr>Future Work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Knopp, Brent (knop8939@vandals.uidaho.edu)</cp:lastModifiedBy>
  <cp:revision>26</cp:revision>
  <dcterms:created xsi:type="dcterms:W3CDTF">2018-10-10T21:50:34Z</dcterms:created>
  <dcterms:modified xsi:type="dcterms:W3CDTF">2026-05-07T19:08:41Z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0x0101006FD48A83AD74414C93268E9999446AA8</vt:lpwstr>
  </property>
</Properties>
</file>